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38912" y="219456"/>
            <a:ext cx="9875520" cy="384048"/>
          </a:xfrm>
          <a:prstGeom prst="rect">
            <a:avLst/>
          </a:prstGeom>
          <a:noFill/>
        </p:spPr>
        <p:txBody>
          <a:bodyPr wrap="none" lIns="27432" rIns="27432" tIns="27432" bIns="27432" anchor="ctr">
            <a:spAutoFit/>
          </a:bodyPr>
          <a:lstStyle/>
          <a:p>
            <a:pPr algn="l"/>
            <a:r>
              <a:rPr sz="2300" b="1">
                <a:solidFill>
                  <a:srgbClr val="0F1C32"/>
                </a:solidFill>
                <a:latin typeface="Arial"/>
              </a:rPr>
              <a:t>ADMET Agent: Endpoint-Adaptive 2D–3D Evidence Routing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612648"/>
            <a:ext cx="10607040" cy="228600"/>
          </a:xfrm>
          <a:prstGeom prst="rect">
            <a:avLst/>
          </a:prstGeom>
          <a:noFill/>
        </p:spPr>
        <p:txBody>
          <a:bodyPr wrap="none" lIns="27432" rIns="27432" tIns="27432" bIns="27432" anchor="ctr">
            <a:spAutoFit/>
          </a:bodyPr>
          <a:lstStyle/>
          <a:p>
            <a:pPr algn="l"/>
            <a:r>
              <a:rPr sz="919" b="0">
                <a:solidFill>
                  <a:srgbClr val="5E6C81"/>
                </a:solidFill>
                <a:latin typeface="Arial"/>
              </a:rPr>
              <a:t>The agent selects the most reliable expert for each endpoint based on data characteristics and uncertainty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92840" y="228600"/>
            <a:ext cx="438912" cy="292608"/>
          </a:xfrm>
          <a:prstGeom prst="rect">
            <a:avLst/>
          </a:prstGeom>
          <a:noFill/>
        </p:spPr>
        <p:txBody>
          <a:bodyPr wrap="none" lIns="27432" rIns="27432" tIns="27432" bIns="27432" anchor="ctr">
            <a:spAutoFit/>
          </a:bodyPr>
          <a:lstStyle/>
          <a:p>
            <a:pPr algn="r"/>
            <a:r>
              <a:rPr sz="1200" b="1">
                <a:solidFill>
                  <a:srgbClr val="1C9792"/>
                </a:solidFill>
                <a:latin typeface="Arial"/>
              </a:rPr>
              <a:t>01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905256"/>
            <a:ext cx="11274552" cy="22860"/>
          </a:xfrm>
          <a:prstGeom prst="rect">
            <a:avLst/>
          </a:prstGeom>
          <a:solidFill>
            <a:srgbClr val="D3DC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457200" y="1133856"/>
            <a:ext cx="1371600" cy="859536"/>
          </a:xfrm>
          <a:prstGeom prst="roundRect">
            <a:avLst/>
          </a:prstGeom>
          <a:solidFill>
            <a:srgbClr val="0F1C32"/>
          </a:solidFill>
          <a:ln w="13970">
            <a:solidFill>
              <a:srgbClr val="0F1C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0584" rIns="100584" tIns="64008" bIns="64008"/>
          <a:lstStyle/>
          <a:p>
            <a:pPr algn="ctr"/>
            <a:r>
              <a:rPr sz="1220" b="1">
                <a:solidFill>
                  <a:srgbClr val="FFFFFF"/>
                </a:solidFill>
                <a:latin typeface="Arial"/>
              </a:rPr>
              <a:t>Task Input</a:t>
            </a:r>
          </a:p>
          <a:p>
            <a:pPr algn="ctr">
              <a:spcBef>
                <a:spcPts val="300"/>
              </a:spcBef>
            </a:pPr>
            <a:r>
              <a:rPr sz="860" b="0">
                <a:solidFill>
                  <a:srgbClr val="FFFFFF"/>
                </a:solidFill>
                <a:latin typeface="Arial"/>
              </a:rPr>
              <a:t>SMILES · endpoint
metric · budget</a:t>
            </a:r>
          </a:p>
        </p:txBody>
      </p:sp>
      <p:sp>
        <p:nvSpPr>
          <p:cNvPr id="7" name="Chevron 6"/>
          <p:cNvSpPr/>
          <p:nvPr/>
        </p:nvSpPr>
        <p:spPr>
          <a:xfrm>
            <a:off x="1892807" y="1426464"/>
            <a:ext cx="219456" cy="274320"/>
          </a:xfrm>
          <a:prstGeom prst="chevron">
            <a:avLst/>
          </a:prstGeom>
          <a:solidFill>
            <a:srgbClr val="1C979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2057400" y="1133856"/>
            <a:ext cx="1508760" cy="859536"/>
          </a:xfrm>
          <a:prstGeom prst="roundRect">
            <a:avLst/>
          </a:prstGeom>
          <a:solidFill>
            <a:srgbClr val="1B2F4E"/>
          </a:solidFill>
          <a:ln w="13970">
            <a:solidFill>
              <a:srgbClr val="1B2F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0584" rIns="100584" tIns="64008" bIns="64008"/>
          <a:lstStyle/>
          <a:p>
            <a:pPr algn="ctr"/>
            <a:r>
              <a:rPr sz="1220" b="1">
                <a:solidFill>
                  <a:srgbClr val="FFFFFF"/>
                </a:solidFill>
                <a:latin typeface="Arial"/>
              </a:rPr>
              <a:t>Data Governance</a:t>
            </a:r>
          </a:p>
          <a:p>
            <a:pPr algn="ctr">
              <a:spcBef>
                <a:spcPts val="300"/>
              </a:spcBef>
            </a:pPr>
            <a:r>
              <a:rPr sz="860" b="0">
                <a:solidFill>
                  <a:srgbClr val="FFFFFF"/>
                </a:solidFill>
                <a:latin typeface="Arial"/>
              </a:rPr>
              <a:t>scaffold split
isolation audit</a:t>
            </a:r>
          </a:p>
        </p:txBody>
      </p:sp>
      <p:sp>
        <p:nvSpPr>
          <p:cNvPr id="9" name="Chevron 8"/>
          <p:cNvSpPr/>
          <p:nvPr/>
        </p:nvSpPr>
        <p:spPr>
          <a:xfrm>
            <a:off x="3630168" y="1426464"/>
            <a:ext cx="219456" cy="274320"/>
          </a:xfrm>
          <a:prstGeom prst="chevron">
            <a:avLst/>
          </a:prstGeom>
          <a:solidFill>
            <a:srgbClr val="1C979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3794760" y="1133856"/>
            <a:ext cx="1536192" cy="859536"/>
          </a:xfrm>
          <a:prstGeom prst="roundRect">
            <a:avLst/>
          </a:prstGeom>
          <a:solidFill>
            <a:srgbClr val="6E5BB5"/>
          </a:solidFill>
          <a:ln w="13970">
            <a:solidFill>
              <a:srgbClr val="6E5BB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0584" rIns="100584" tIns="64008" bIns="64008"/>
          <a:lstStyle/>
          <a:p>
            <a:pPr algn="ctr"/>
            <a:r>
              <a:rPr sz="1220" b="1">
                <a:solidFill>
                  <a:srgbClr val="FFFFFF"/>
                </a:solidFill>
                <a:latin typeface="Arial"/>
              </a:rPr>
              <a:t>Endpoint Profile</a:t>
            </a:r>
          </a:p>
          <a:p>
            <a:pPr algn="ctr">
              <a:spcBef>
                <a:spcPts val="300"/>
              </a:spcBef>
            </a:pPr>
            <a:r>
              <a:rPr sz="860" b="0">
                <a:solidFill>
                  <a:srgbClr val="FFFFFF"/>
                </a:solidFill>
                <a:latin typeface="Arial"/>
              </a:rPr>
              <a:t>size · imbalance · 3D relevance
cross-seed stability</a:t>
            </a:r>
          </a:p>
        </p:txBody>
      </p:sp>
      <p:sp>
        <p:nvSpPr>
          <p:cNvPr id="11" name="Chevron 10"/>
          <p:cNvSpPr/>
          <p:nvPr/>
        </p:nvSpPr>
        <p:spPr>
          <a:xfrm>
            <a:off x="5394960" y="1426464"/>
            <a:ext cx="219456" cy="274320"/>
          </a:xfrm>
          <a:prstGeom prst="chevron">
            <a:avLst/>
          </a:prstGeom>
          <a:solidFill>
            <a:srgbClr val="1C979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5586984" y="1133856"/>
            <a:ext cx="1993392" cy="859536"/>
          </a:xfrm>
          <a:prstGeom prst="roundRect">
            <a:avLst/>
          </a:prstGeom>
          <a:solidFill>
            <a:srgbClr val="1C9792"/>
          </a:solidFill>
          <a:ln w="13970">
            <a:solidFill>
              <a:srgbClr val="1C979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0584" rIns="100584" tIns="64008" bIns="64008"/>
          <a:lstStyle/>
          <a:p>
            <a:pPr algn="ctr"/>
            <a:r>
              <a:rPr sz="1220" b="1">
                <a:solidFill>
                  <a:srgbClr val="FFFFFF"/>
                </a:solidFill>
                <a:latin typeface="Arial"/>
              </a:rPr>
              <a:t>Expert Pool</a:t>
            </a:r>
          </a:p>
          <a:p>
            <a:pPr algn="ctr">
              <a:spcBef>
                <a:spcPts val="300"/>
              </a:spcBef>
            </a:pPr>
            <a:r>
              <a:rPr sz="860" b="0">
                <a:solidFill>
                  <a:srgbClr val="FFFFFF"/>
                </a:solidFill>
                <a:latin typeface="Arial"/>
              </a:rPr>
              <a:t>2D ML · Uni-Mol2 3D
target transforms · ensembles</a:t>
            </a:r>
          </a:p>
        </p:txBody>
      </p:sp>
      <p:sp>
        <p:nvSpPr>
          <p:cNvPr id="13" name="Chevron 12"/>
          <p:cNvSpPr/>
          <p:nvPr/>
        </p:nvSpPr>
        <p:spPr>
          <a:xfrm>
            <a:off x="7644384" y="1426464"/>
            <a:ext cx="219456" cy="274320"/>
          </a:xfrm>
          <a:prstGeom prst="chevron">
            <a:avLst/>
          </a:prstGeom>
          <a:solidFill>
            <a:srgbClr val="1C979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7836408" y="1133856"/>
            <a:ext cx="1591056" cy="859536"/>
          </a:xfrm>
          <a:prstGeom prst="roundRect">
            <a:avLst/>
          </a:prstGeom>
          <a:solidFill>
            <a:srgbClr val="EE8F37"/>
          </a:solidFill>
          <a:ln w="13970">
            <a:solidFill>
              <a:srgbClr val="EE8F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0584" rIns="100584" tIns="64008" bIns="64008"/>
          <a:lstStyle/>
          <a:p>
            <a:pPr algn="ctr"/>
            <a:r>
              <a:rPr sz="1220" b="1">
                <a:solidFill>
                  <a:srgbClr val="1A2537"/>
                </a:solidFill>
                <a:latin typeface="Arial"/>
              </a:rPr>
              <a:t>Evidence Router</a:t>
            </a:r>
          </a:p>
          <a:p>
            <a:pPr algn="ctr">
              <a:spcBef>
                <a:spcPts val="300"/>
              </a:spcBef>
            </a:pPr>
            <a:r>
              <a:rPr sz="860" b="0">
                <a:solidFill>
                  <a:srgbClr val="5E6C81"/>
                </a:solidFill>
                <a:latin typeface="Arial"/>
              </a:rPr>
              <a:t>LOSO + LCB
single · fusion · fallback</a:t>
            </a:r>
          </a:p>
        </p:txBody>
      </p:sp>
      <p:sp>
        <p:nvSpPr>
          <p:cNvPr id="15" name="Chevron 14"/>
          <p:cNvSpPr/>
          <p:nvPr/>
        </p:nvSpPr>
        <p:spPr>
          <a:xfrm>
            <a:off x="9491472" y="1426464"/>
            <a:ext cx="219456" cy="274320"/>
          </a:xfrm>
          <a:prstGeom prst="chevron">
            <a:avLst/>
          </a:prstGeom>
          <a:solidFill>
            <a:srgbClr val="1C979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9646920" y="1133856"/>
            <a:ext cx="2084831" cy="859536"/>
          </a:xfrm>
          <a:prstGeom prst="roundRect">
            <a:avLst/>
          </a:prstGeom>
          <a:solidFill>
            <a:srgbClr val="0F1C32"/>
          </a:solidFill>
          <a:ln w="13970">
            <a:solidFill>
              <a:srgbClr val="0F1C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0584" rIns="100584" tIns="64008" bIns="64008"/>
          <a:lstStyle/>
          <a:p>
            <a:pPr algn="ctr"/>
            <a:r>
              <a:rPr sz="1220" b="1">
                <a:solidFill>
                  <a:srgbClr val="FFFFFF"/>
                </a:solidFill>
                <a:latin typeface="Arial"/>
              </a:rPr>
              <a:t>Freeze &amp; Evaluate</a:t>
            </a:r>
          </a:p>
          <a:p>
            <a:pPr algn="ctr">
              <a:spcBef>
                <a:spcPts val="300"/>
              </a:spcBef>
            </a:pPr>
            <a:r>
              <a:rPr sz="860" b="0">
                <a:solidFill>
                  <a:srgbClr val="FFFFFF"/>
                </a:solidFill>
                <a:latin typeface="Arial"/>
              </a:rPr>
              <a:t>lock recipe + hash
5 seeds → fixed test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75488" y="2157984"/>
            <a:ext cx="3108960" cy="274320"/>
          </a:xfrm>
          <a:prstGeom prst="rect">
            <a:avLst/>
          </a:prstGeom>
          <a:noFill/>
        </p:spPr>
        <p:txBody>
          <a:bodyPr wrap="none" lIns="27432" rIns="27432" tIns="27432" bIns="27432" anchor="ctr">
            <a:spAutoFit/>
          </a:bodyPr>
          <a:lstStyle/>
          <a:p>
            <a:pPr algn="l"/>
            <a:r>
              <a:rPr sz="1050" b="1">
                <a:solidFill>
                  <a:srgbClr val="0F1C32"/>
                </a:solidFill>
                <a:latin typeface="Arial"/>
              </a:rPr>
              <a:t>FOUR INTERPRETABLE ROUTING DECISIONS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75488" y="2487168"/>
            <a:ext cx="2157984" cy="749808"/>
          </a:xfrm>
          <a:prstGeom prst="roundRect">
            <a:avLst/>
          </a:prstGeom>
          <a:solidFill>
            <a:srgbClr val="E7F0F9"/>
          </a:solidFill>
          <a:ln w="13970">
            <a:solidFill>
              <a:srgbClr val="0F1C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76072" y="2551176"/>
            <a:ext cx="1956816" cy="201168"/>
          </a:xfrm>
          <a:prstGeom prst="rect">
            <a:avLst/>
          </a:prstGeom>
          <a:noFill/>
        </p:spPr>
        <p:txBody>
          <a:bodyPr wrap="none" lIns="27432" rIns="27432" tIns="27432" bIns="27432" anchor="ctr">
            <a:spAutoFit/>
          </a:bodyPr>
          <a:lstStyle/>
          <a:p>
            <a:pPr algn="ctr"/>
            <a:r>
              <a:rPr sz="930" b="1">
                <a:solidFill>
                  <a:srgbClr val="0F1C32"/>
                </a:solidFill>
                <a:latin typeface="Arial"/>
              </a:rPr>
              <a:t>2D ONLY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76072" y="2770632"/>
            <a:ext cx="1956816" cy="365760"/>
          </a:xfrm>
          <a:prstGeom prst="rect">
            <a:avLst/>
          </a:prstGeom>
          <a:noFill/>
        </p:spPr>
        <p:txBody>
          <a:bodyPr wrap="none" lIns="27432" rIns="27432" tIns="27432" bIns="27432" anchor="ctr">
            <a:spAutoFit/>
          </a:bodyPr>
          <a:lstStyle/>
          <a:p>
            <a:pPr algn="ctr"/>
            <a:r>
              <a:rPr sz="830" b="0">
                <a:solidFill>
                  <a:srgbClr val="1A2537"/>
                </a:solidFill>
                <a:latin typeface="Arial"/>
              </a:rPr>
              <a:t>Bioavailability
CYP2C9 Substrate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2834640" y="2487168"/>
            <a:ext cx="2157984" cy="749808"/>
          </a:xfrm>
          <a:prstGeom prst="roundRect">
            <a:avLst/>
          </a:prstGeom>
          <a:solidFill>
            <a:srgbClr val="E2F5F1"/>
          </a:solidFill>
          <a:ln w="13970">
            <a:solidFill>
              <a:srgbClr val="2497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2935224" y="2551176"/>
            <a:ext cx="1956816" cy="201168"/>
          </a:xfrm>
          <a:prstGeom prst="rect">
            <a:avLst/>
          </a:prstGeom>
          <a:noFill/>
        </p:spPr>
        <p:txBody>
          <a:bodyPr wrap="none" lIns="27432" rIns="27432" tIns="27432" bIns="27432" anchor="ctr">
            <a:spAutoFit/>
          </a:bodyPr>
          <a:lstStyle/>
          <a:p>
            <a:pPr algn="ctr"/>
            <a:r>
              <a:rPr sz="930" b="1">
                <a:solidFill>
                  <a:srgbClr val="24975F"/>
                </a:solidFill>
                <a:latin typeface="Arial"/>
              </a:rPr>
              <a:t>3D ONLY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935224" y="2770632"/>
            <a:ext cx="1956816" cy="365760"/>
          </a:xfrm>
          <a:prstGeom prst="rect">
            <a:avLst/>
          </a:prstGeom>
          <a:noFill/>
        </p:spPr>
        <p:txBody>
          <a:bodyPr wrap="none" lIns="27432" rIns="27432" tIns="27432" bIns="27432" anchor="ctr">
            <a:spAutoFit/>
          </a:bodyPr>
          <a:lstStyle/>
          <a:p>
            <a:pPr algn="ctr"/>
            <a:r>
              <a:rPr sz="830" b="0">
                <a:solidFill>
                  <a:srgbClr val="1A2537"/>
                </a:solidFill>
                <a:latin typeface="Arial"/>
              </a:rPr>
              <a:t>Lipophilicity
Uni-Mol2 clearly wins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193792" y="2487168"/>
            <a:ext cx="2157984" cy="749808"/>
          </a:xfrm>
          <a:prstGeom prst="roundRect">
            <a:avLst/>
          </a:prstGeom>
          <a:solidFill>
            <a:srgbClr val="EEEBF9"/>
          </a:solidFill>
          <a:ln w="13970">
            <a:solidFill>
              <a:srgbClr val="6E5BB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294376" y="2551176"/>
            <a:ext cx="1956816" cy="201168"/>
          </a:xfrm>
          <a:prstGeom prst="rect">
            <a:avLst/>
          </a:prstGeom>
          <a:noFill/>
        </p:spPr>
        <p:txBody>
          <a:bodyPr wrap="none" lIns="27432" rIns="27432" tIns="27432" bIns="27432" anchor="ctr">
            <a:spAutoFit/>
          </a:bodyPr>
          <a:lstStyle/>
          <a:p>
            <a:pPr algn="ctr"/>
            <a:r>
              <a:rPr sz="930" b="1">
                <a:solidFill>
                  <a:srgbClr val="6E5BB5"/>
                </a:solidFill>
                <a:latin typeface="Arial"/>
              </a:rPr>
              <a:t>2D + 3D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294376" y="2770632"/>
            <a:ext cx="1956816" cy="365760"/>
          </a:xfrm>
          <a:prstGeom prst="rect">
            <a:avLst/>
          </a:prstGeom>
          <a:noFill/>
        </p:spPr>
        <p:txBody>
          <a:bodyPr wrap="none" lIns="27432" rIns="27432" tIns="27432" bIns="27432" anchor="ctr">
            <a:spAutoFit/>
          </a:bodyPr>
          <a:lstStyle/>
          <a:p>
            <a:pPr algn="ctr"/>
            <a:r>
              <a:rPr sz="830" b="0">
                <a:solidFill>
                  <a:srgbClr val="1A2537"/>
                </a:solidFill>
                <a:latin typeface="Arial"/>
              </a:rPr>
              <a:t>DILI · hERG
complementary evidence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7552944" y="2487168"/>
            <a:ext cx="2157984" cy="749808"/>
          </a:xfrm>
          <a:prstGeom prst="roundRect">
            <a:avLst/>
          </a:prstGeom>
          <a:solidFill>
            <a:srgbClr val="FDEFE0"/>
          </a:solidFill>
          <a:ln w="13970">
            <a:solidFill>
              <a:srgbClr val="EE8F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653527" y="2551176"/>
            <a:ext cx="1956816" cy="201168"/>
          </a:xfrm>
          <a:prstGeom prst="rect">
            <a:avLst/>
          </a:prstGeom>
          <a:noFill/>
        </p:spPr>
        <p:txBody>
          <a:bodyPr wrap="none" lIns="27432" rIns="27432" tIns="27432" bIns="27432" anchor="ctr">
            <a:spAutoFit/>
          </a:bodyPr>
          <a:lstStyle/>
          <a:p>
            <a:pPr algn="ctr"/>
            <a:r>
              <a:rPr sz="930" b="1">
                <a:solidFill>
                  <a:srgbClr val="EE8F37"/>
                </a:solidFill>
                <a:latin typeface="Arial"/>
              </a:rPr>
              <a:t>RANK FUSION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653527" y="2770632"/>
            <a:ext cx="1956816" cy="365760"/>
          </a:xfrm>
          <a:prstGeom prst="rect">
            <a:avLst/>
          </a:prstGeom>
          <a:noFill/>
        </p:spPr>
        <p:txBody>
          <a:bodyPr wrap="none" lIns="27432" rIns="27432" tIns="27432" bIns="27432" anchor="ctr">
            <a:spAutoFit/>
          </a:bodyPr>
          <a:lstStyle/>
          <a:p>
            <a:pPr algn="ctr"/>
            <a:r>
              <a:rPr sz="830" b="0">
                <a:solidFill>
                  <a:srgbClr val="1A2537"/>
                </a:solidFill>
                <a:latin typeface="Arial"/>
              </a:rPr>
              <a:t>Half-Life
3D + rank targets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9912096" y="2487168"/>
            <a:ext cx="1810512" cy="749808"/>
          </a:xfrm>
          <a:prstGeom prst="roundRect">
            <a:avLst/>
          </a:prstGeom>
          <a:solidFill>
            <a:srgbClr val="0F1C32"/>
          </a:solidFill>
          <a:ln w="13970">
            <a:solidFill>
              <a:srgbClr val="0F1C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0584" rIns="100584" tIns="64008" bIns="64008"/>
          <a:lstStyle/>
          <a:p>
            <a:pPr algn="ctr"/>
            <a:r>
              <a:rPr sz="950" b="1">
                <a:solidFill>
                  <a:srgbClr val="FFFFFF"/>
                </a:solidFill>
                <a:latin typeface="Arial"/>
              </a:rPr>
              <a:t>V2.1 BASELINE</a:t>
            </a:r>
          </a:p>
          <a:p>
            <a:pPr algn="ctr">
              <a:spcBef>
                <a:spcPts val="300"/>
              </a:spcBef>
            </a:pPr>
            <a:r>
              <a:rPr sz="900" b="0">
                <a:solidFill>
                  <a:srgbClr val="FFFFFF"/>
                </a:solidFill>
                <a:latin typeface="Arial"/>
              </a:rPr>
              <a:t>Top-1  3/22
Top-5  13/22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75488" y="3456432"/>
            <a:ext cx="7132320" cy="292608"/>
          </a:xfrm>
          <a:prstGeom prst="rect">
            <a:avLst/>
          </a:prstGeom>
          <a:noFill/>
        </p:spPr>
        <p:txBody>
          <a:bodyPr wrap="none" lIns="27432" rIns="27432" tIns="27432" bIns="27432" anchor="ctr">
            <a:spAutoFit/>
          </a:bodyPr>
          <a:lstStyle/>
          <a:p>
            <a:pPr algn="l"/>
            <a:r>
              <a:rPr sz="1120" b="1">
                <a:solidFill>
                  <a:srgbClr val="0F1C32"/>
                </a:solidFill>
                <a:latin typeface="Arial"/>
              </a:rPr>
              <a:t>Uni-Mol2 84M: Strict Six-Task Scaffold Validation (Test Unused)</a:t>
            </a:r>
          </a:p>
        </p:txBody>
      </p:sp>
      <p:graphicFrame>
        <p:nvGraphicFramePr>
          <p:cNvPr id="32" name="Table 31"/>
          <p:cNvGraphicFramePr>
            <a:graphicFrameLocks noGrp="1"/>
          </p:cNvGraphicFramePr>
          <p:nvPr/>
        </p:nvGraphicFramePr>
        <p:xfrm>
          <a:off x="475488" y="3785615"/>
          <a:ext cx="7360920" cy="234086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8800"/>
                <a:gridCol w="1097280"/>
                <a:gridCol w="1005840"/>
                <a:gridCol w="1143000"/>
                <a:gridCol w="2286000"/>
              </a:tblGrid>
              <a:tr h="334409">
                <a:tc>
                  <a:txBody>
                    <a:bodyPr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Task</a:t>
                      </a:r>
                    </a:p>
                  </a:txBody>
                  <a:tcPr marL="36576" marR="36576" marT="10972" marB="10972" anchor="ctr">
                    <a:solidFill>
                      <a:srgbClr val="0F1C3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Metric</a:t>
                      </a:r>
                    </a:p>
                  </a:txBody>
                  <a:tcPr marL="36576" marR="36576" marT="10972" marB="10972" anchor="ctr">
                    <a:solidFill>
                      <a:srgbClr val="0F1C3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Best 2D</a:t>
                      </a:r>
                    </a:p>
                  </a:txBody>
                  <a:tcPr marL="36576" marR="36576" marT="10972" marB="10972" anchor="ctr">
                    <a:solidFill>
                      <a:srgbClr val="0F1C3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Uni-Mol2</a:t>
                      </a:r>
                    </a:p>
                  </a:txBody>
                  <a:tcPr marL="36576" marR="36576" marT="10972" marB="10972" anchor="ctr">
                    <a:solidFill>
                      <a:srgbClr val="0F1C3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Router Decision</a:t>
                      </a:r>
                    </a:p>
                  </a:txBody>
                  <a:tcPr marL="36576" marR="36576" marT="10972" marB="10972" anchor="ctr">
                    <a:solidFill>
                      <a:srgbClr val="0F1C32"/>
                    </a:solidFill>
                  </a:tcPr>
                </a:tc>
              </a:tr>
              <a:tr h="334409">
                <a:tc>
                  <a:txBody>
                    <a:bodyPr/>
                    <a:lstStyle/>
                    <a:p>
                      <a:pPr algn="l"/>
                      <a:r>
                        <a:rPr sz="819" b="0">
                          <a:solidFill>
                            <a:srgbClr val="1A2537"/>
                          </a:solidFill>
                          <a:latin typeface="Arial"/>
                        </a:rPr>
                        <a:t>Bioavailability</a:t>
                      </a:r>
                    </a:p>
                  </a:txBody>
                  <a:tcPr marL="36576" marR="36576" marT="10972" marB="1097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19" b="0">
                          <a:solidFill>
                            <a:srgbClr val="1A2537"/>
                          </a:solidFill>
                          <a:latin typeface="Arial"/>
                        </a:rPr>
                        <a:t>AUROC ↑</a:t>
                      </a:r>
                    </a:p>
                  </a:txBody>
                  <a:tcPr marL="36576" marR="36576" marT="10972" marB="1097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19" b="0">
                          <a:solidFill>
                            <a:srgbClr val="1A2537"/>
                          </a:solidFill>
                          <a:latin typeface="Arial"/>
                        </a:rPr>
                        <a:t>0.7146</a:t>
                      </a:r>
                    </a:p>
                  </a:txBody>
                  <a:tcPr marL="36576" marR="36576" marT="10972" marB="1097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19" b="0">
                          <a:solidFill>
                            <a:srgbClr val="1A2537"/>
                          </a:solidFill>
                          <a:latin typeface="Arial"/>
                        </a:rPr>
                        <a:t>0.7008</a:t>
                      </a:r>
                    </a:p>
                  </a:txBody>
                  <a:tcPr marL="36576" marR="36576" marT="10972" marB="1097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19" b="1">
                          <a:solidFill>
                            <a:srgbClr val="1A2537"/>
                          </a:solidFill>
                          <a:latin typeface="Arial"/>
                        </a:rPr>
                        <a:t>2D / cautious fusion</a:t>
                      </a:r>
                    </a:p>
                  </a:txBody>
                  <a:tcPr marL="36576" marR="36576" marT="10972" marB="10972" anchor="ctr">
                    <a:solidFill>
                      <a:srgbClr val="FFFFFF"/>
                    </a:solidFill>
                  </a:tcPr>
                </a:tc>
              </a:tr>
              <a:tr h="334409">
                <a:tc>
                  <a:txBody>
                    <a:bodyPr/>
                    <a:lstStyle/>
                    <a:p>
                      <a:pPr algn="l"/>
                      <a:r>
                        <a:rPr sz="819" b="0">
                          <a:solidFill>
                            <a:srgbClr val="1A2537"/>
                          </a:solidFill>
                          <a:latin typeface="Arial"/>
                        </a:rPr>
                        <a:t>CYP2C9 Sub.</a:t>
                      </a:r>
                    </a:p>
                  </a:txBody>
                  <a:tcPr marL="36576" marR="36576" marT="10972" marB="10972" anchor="ctr">
                    <a:solidFill>
                      <a:srgbClr val="E7F0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19" b="0">
                          <a:solidFill>
                            <a:srgbClr val="1A2537"/>
                          </a:solidFill>
                          <a:latin typeface="Arial"/>
                        </a:rPr>
                        <a:t>AUPRC ↑</a:t>
                      </a:r>
                    </a:p>
                  </a:txBody>
                  <a:tcPr marL="36576" marR="36576" marT="10972" marB="10972" anchor="ctr">
                    <a:solidFill>
                      <a:srgbClr val="E7F0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19" b="0">
                          <a:solidFill>
                            <a:srgbClr val="1A2537"/>
                          </a:solidFill>
                          <a:latin typeface="Arial"/>
                        </a:rPr>
                        <a:t>0.4801</a:t>
                      </a:r>
                    </a:p>
                  </a:txBody>
                  <a:tcPr marL="36576" marR="36576" marT="10972" marB="10972" anchor="ctr">
                    <a:solidFill>
                      <a:srgbClr val="E7F0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19" b="0">
                          <a:solidFill>
                            <a:srgbClr val="1A2537"/>
                          </a:solidFill>
                          <a:latin typeface="Arial"/>
                        </a:rPr>
                        <a:t>0.3563</a:t>
                      </a:r>
                    </a:p>
                  </a:txBody>
                  <a:tcPr marL="36576" marR="36576" marT="10972" marB="10972" anchor="ctr">
                    <a:solidFill>
                      <a:srgbClr val="E7F0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19" b="1">
                          <a:solidFill>
                            <a:srgbClr val="1A2537"/>
                          </a:solidFill>
                          <a:latin typeface="Arial"/>
                        </a:rPr>
                        <a:t>Fallback to 2D</a:t>
                      </a:r>
                    </a:p>
                  </a:txBody>
                  <a:tcPr marL="36576" marR="36576" marT="10972" marB="10972" anchor="ctr">
                    <a:solidFill>
                      <a:srgbClr val="E7F0F9"/>
                    </a:solidFill>
                  </a:tcPr>
                </a:tc>
              </a:tr>
              <a:tr h="334409">
                <a:tc>
                  <a:txBody>
                    <a:bodyPr/>
                    <a:lstStyle/>
                    <a:p>
                      <a:pPr algn="l"/>
                      <a:r>
                        <a:rPr sz="819" b="0">
                          <a:solidFill>
                            <a:srgbClr val="1A2537"/>
                          </a:solidFill>
                          <a:latin typeface="Arial"/>
                        </a:rPr>
                        <a:t>DILI</a:t>
                      </a:r>
                    </a:p>
                  </a:txBody>
                  <a:tcPr marL="36576" marR="36576" marT="10972" marB="1097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19" b="0">
                          <a:solidFill>
                            <a:srgbClr val="1A2537"/>
                          </a:solidFill>
                          <a:latin typeface="Arial"/>
                        </a:rPr>
                        <a:t>AUROC ↑</a:t>
                      </a:r>
                    </a:p>
                  </a:txBody>
                  <a:tcPr marL="36576" marR="36576" marT="10972" marB="1097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19" b="0">
                          <a:solidFill>
                            <a:srgbClr val="1A2537"/>
                          </a:solidFill>
                          <a:latin typeface="Arial"/>
                        </a:rPr>
                        <a:t>0.8654</a:t>
                      </a:r>
                    </a:p>
                  </a:txBody>
                  <a:tcPr marL="36576" marR="36576" marT="10972" marB="1097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19" b="0">
                          <a:solidFill>
                            <a:srgbClr val="1A2537"/>
                          </a:solidFill>
                          <a:latin typeface="Arial"/>
                        </a:rPr>
                        <a:t>0.8635</a:t>
                      </a:r>
                    </a:p>
                  </a:txBody>
                  <a:tcPr marL="36576" marR="36576" marT="10972" marB="1097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19" b="1">
                          <a:solidFill>
                            <a:srgbClr val="1A2537"/>
                          </a:solidFill>
                          <a:latin typeface="Arial"/>
                        </a:rPr>
                        <a:t>2D+3D fusion</a:t>
                      </a:r>
                    </a:p>
                  </a:txBody>
                  <a:tcPr marL="36576" marR="36576" marT="10972" marB="10972" anchor="ctr">
                    <a:solidFill>
                      <a:srgbClr val="FFFFFF"/>
                    </a:solidFill>
                  </a:tcPr>
                </a:tc>
              </a:tr>
              <a:tr h="334409">
                <a:tc>
                  <a:txBody>
                    <a:bodyPr/>
                    <a:lstStyle/>
                    <a:p>
                      <a:pPr algn="l"/>
                      <a:r>
                        <a:rPr sz="819" b="0">
                          <a:solidFill>
                            <a:srgbClr val="1A2537"/>
                          </a:solidFill>
                          <a:latin typeface="Arial"/>
                        </a:rPr>
                        <a:t>Half-Life</a:t>
                      </a:r>
                    </a:p>
                  </a:txBody>
                  <a:tcPr marL="36576" marR="36576" marT="10972" marB="10972" anchor="ctr">
                    <a:solidFill>
                      <a:srgbClr val="E7F0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19" b="0">
                          <a:solidFill>
                            <a:srgbClr val="1A2537"/>
                          </a:solidFill>
                          <a:latin typeface="Arial"/>
                        </a:rPr>
                        <a:t>Spearman ↑</a:t>
                      </a:r>
                    </a:p>
                  </a:txBody>
                  <a:tcPr marL="36576" marR="36576" marT="10972" marB="10972" anchor="ctr">
                    <a:solidFill>
                      <a:srgbClr val="E7F0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19" b="0">
                          <a:solidFill>
                            <a:srgbClr val="1A2537"/>
                          </a:solidFill>
                          <a:latin typeface="Arial"/>
                        </a:rPr>
                        <a:t>0.4374</a:t>
                      </a:r>
                    </a:p>
                  </a:txBody>
                  <a:tcPr marL="36576" marR="36576" marT="10972" marB="10972" anchor="ctr">
                    <a:solidFill>
                      <a:srgbClr val="E7F0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19" b="1">
                          <a:solidFill>
                            <a:srgbClr val="24975F"/>
                          </a:solidFill>
                          <a:latin typeface="Arial"/>
                        </a:rPr>
                        <a:t>0.4511</a:t>
                      </a:r>
                    </a:p>
                  </a:txBody>
                  <a:tcPr marL="36576" marR="36576" marT="10972" marB="10972" anchor="ctr">
                    <a:solidFill>
                      <a:srgbClr val="E7F0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19" b="1">
                          <a:solidFill>
                            <a:srgbClr val="1A2537"/>
                          </a:solidFill>
                          <a:latin typeface="Arial"/>
                        </a:rPr>
                        <a:t>Heterogeneous rank fusion</a:t>
                      </a:r>
                    </a:p>
                  </a:txBody>
                  <a:tcPr marL="36576" marR="36576" marT="10972" marB="10972" anchor="ctr">
                    <a:solidFill>
                      <a:srgbClr val="E7F0F9"/>
                    </a:solidFill>
                  </a:tcPr>
                </a:tc>
              </a:tr>
              <a:tr h="334409">
                <a:tc>
                  <a:txBody>
                    <a:bodyPr/>
                    <a:lstStyle/>
                    <a:p>
                      <a:pPr algn="l"/>
                      <a:r>
                        <a:rPr sz="819" b="0">
                          <a:solidFill>
                            <a:srgbClr val="1A2537"/>
                          </a:solidFill>
                          <a:latin typeface="Arial"/>
                        </a:rPr>
                        <a:t>Lipophilicity</a:t>
                      </a:r>
                    </a:p>
                  </a:txBody>
                  <a:tcPr marL="36576" marR="36576" marT="10972" marB="1097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19" b="0">
                          <a:solidFill>
                            <a:srgbClr val="1A2537"/>
                          </a:solidFill>
                          <a:latin typeface="Arial"/>
                        </a:rPr>
                        <a:t>MAE ↓</a:t>
                      </a:r>
                    </a:p>
                  </a:txBody>
                  <a:tcPr marL="36576" marR="36576" marT="10972" marB="1097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19" b="0">
                          <a:solidFill>
                            <a:srgbClr val="1A2537"/>
                          </a:solidFill>
                          <a:latin typeface="Arial"/>
                        </a:rPr>
                        <a:t>0.5192</a:t>
                      </a:r>
                    </a:p>
                  </a:txBody>
                  <a:tcPr marL="36576" marR="36576" marT="10972" marB="1097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19" b="1">
                          <a:solidFill>
                            <a:srgbClr val="24975F"/>
                          </a:solidFill>
                          <a:latin typeface="Arial"/>
                        </a:rPr>
                        <a:t>0.4066</a:t>
                      </a:r>
                    </a:p>
                  </a:txBody>
                  <a:tcPr marL="36576" marR="36576" marT="10972" marB="1097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19" b="1">
                          <a:solidFill>
                            <a:srgbClr val="1A2537"/>
                          </a:solidFill>
                          <a:latin typeface="Arial"/>
                        </a:rPr>
                        <a:t>Uni-Mol2</a:t>
                      </a:r>
                    </a:p>
                  </a:txBody>
                  <a:tcPr marL="36576" marR="36576" marT="10972" marB="10972" anchor="ctr">
                    <a:solidFill>
                      <a:srgbClr val="FFFFFF"/>
                    </a:solidFill>
                  </a:tcPr>
                </a:tc>
              </a:tr>
              <a:tr h="334410">
                <a:tc>
                  <a:txBody>
                    <a:bodyPr/>
                    <a:lstStyle/>
                    <a:p>
                      <a:pPr algn="l"/>
                      <a:r>
                        <a:rPr sz="819" b="0">
                          <a:solidFill>
                            <a:srgbClr val="1A2537"/>
                          </a:solidFill>
                          <a:latin typeface="Arial"/>
                        </a:rPr>
                        <a:t>hERG</a:t>
                      </a:r>
                    </a:p>
                  </a:txBody>
                  <a:tcPr marL="36576" marR="36576" marT="10972" marB="10972" anchor="ctr">
                    <a:solidFill>
                      <a:srgbClr val="E7F0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19" b="0">
                          <a:solidFill>
                            <a:srgbClr val="1A2537"/>
                          </a:solidFill>
                          <a:latin typeface="Arial"/>
                        </a:rPr>
                        <a:t>AUROC ↑</a:t>
                      </a:r>
                    </a:p>
                  </a:txBody>
                  <a:tcPr marL="36576" marR="36576" marT="10972" marB="10972" anchor="ctr">
                    <a:solidFill>
                      <a:srgbClr val="E7F0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19" b="0">
                          <a:solidFill>
                            <a:srgbClr val="1A2537"/>
                          </a:solidFill>
                          <a:latin typeface="Arial"/>
                        </a:rPr>
                        <a:t>0.8867</a:t>
                      </a:r>
                    </a:p>
                  </a:txBody>
                  <a:tcPr marL="36576" marR="36576" marT="10972" marB="10972" anchor="ctr">
                    <a:solidFill>
                      <a:srgbClr val="E7F0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19" b="1">
                          <a:solidFill>
                            <a:srgbClr val="24975F"/>
                          </a:solidFill>
                          <a:latin typeface="Arial"/>
                        </a:rPr>
                        <a:t>0.8916</a:t>
                      </a:r>
                    </a:p>
                  </a:txBody>
                  <a:tcPr marL="36576" marR="36576" marT="10972" marB="10972" anchor="ctr">
                    <a:solidFill>
                      <a:srgbClr val="E7F0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19" b="1">
                          <a:solidFill>
                            <a:srgbClr val="1A2537"/>
                          </a:solidFill>
                          <a:latin typeface="Arial"/>
                        </a:rPr>
                        <a:t>2D+3D fusion</a:t>
                      </a:r>
                    </a:p>
                  </a:txBody>
                  <a:tcPr marL="36576" marR="36576" marT="10972" marB="10972" anchor="ctr">
                    <a:solidFill>
                      <a:srgbClr val="E7F0F9"/>
                    </a:solidFill>
                  </a:tcPr>
                </a:tc>
              </a:tr>
            </a:tbl>
          </a:graphicData>
        </a:graphic>
      </p:graphicFrame>
      <p:sp>
        <p:nvSpPr>
          <p:cNvPr id="33" name="Rounded Rectangle 32"/>
          <p:cNvSpPr/>
          <p:nvPr/>
        </p:nvSpPr>
        <p:spPr>
          <a:xfrm>
            <a:off x="8065008" y="3584448"/>
            <a:ext cx="3657600" cy="2542032"/>
          </a:xfrm>
          <a:prstGeom prst="roundRect">
            <a:avLst/>
          </a:prstGeom>
          <a:solidFill>
            <a:srgbClr val="0F1C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275320" y="3767328"/>
            <a:ext cx="3246120" cy="310896"/>
          </a:xfrm>
          <a:prstGeom prst="rect">
            <a:avLst/>
          </a:prstGeom>
          <a:noFill/>
        </p:spPr>
        <p:txBody>
          <a:bodyPr wrap="none" lIns="27432" rIns="27432" tIns="27432" bIns="27432" anchor="ctr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Arial"/>
              </a:rPr>
              <a:t>THREE KEY FINDINGS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284464" y="4206240"/>
            <a:ext cx="384048" cy="329184"/>
          </a:xfrm>
          <a:prstGeom prst="rect">
            <a:avLst/>
          </a:prstGeom>
          <a:noFill/>
        </p:spPr>
        <p:txBody>
          <a:bodyPr wrap="none" lIns="27432" rIns="27432" tIns="27432" bIns="27432" anchor="ctr">
            <a:spAutoFit/>
          </a:bodyPr>
          <a:lstStyle/>
          <a:p>
            <a:pPr algn="ctr"/>
            <a:r>
              <a:rPr sz="1000" b="1">
                <a:solidFill>
                  <a:srgbClr val="1C9792"/>
                </a:solidFill>
                <a:latin typeface="Arial"/>
              </a:rPr>
              <a:t>01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732520" y="4187952"/>
            <a:ext cx="2724912" cy="384048"/>
          </a:xfrm>
          <a:prstGeom prst="rect">
            <a:avLst/>
          </a:prstGeom>
          <a:noFill/>
        </p:spPr>
        <p:txBody>
          <a:bodyPr wrap="none" lIns="27432" rIns="27432" tIns="27432" bIns="27432" anchor="ctr">
            <a:spAutoFit/>
          </a:bodyPr>
          <a:lstStyle/>
          <a:p>
            <a:pPr algn="l"/>
            <a:r>
              <a:rPr sz="960" b="1">
                <a:solidFill>
                  <a:srgbClr val="FFFFFF"/>
                </a:solidFill>
                <a:latin typeface="Arial"/>
              </a:rPr>
              <a:t>Uni-Mol2 is an endpoint expert, not a universal replacement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284464" y="4754879"/>
            <a:ext cx="384048" cy="329184"/>
          </a:xfrm>
          <a:prstGeom prst="rect">
            <a:avLst/>
          </a:prstGeom>
          <a:noFill/>
        </p:spPr>
        <p:txBody>
          <a:bodyPr wrap="none" lIns="27432" rIns="27432" tIns="27432" bIns="27432" anchor="ctr">
            <a:spAutoFit/>
          </a:bodyPr>
          <a:lstStyle/>
          <a:p>
            <a:pPr algn="ctr"/>
            <a:r>
              <a:rPr sz="1000" b="1">
                <a:solidFill>
                  <a:srgbClr val="1C9792"/>
                </a:solidFill>
                <a:latin typeface="Arial"/>
              </a:rPr>
              <a:t>02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732520" y="4736592"/>
            <a:ext cx="2724912" cy="384048"/>
          </a:xfrm>
          <a:prstGeom prst="rect">
            <a:avLst/>
          </a:prstGeom>
          <a:noFill/>
        </p:spPr>
        <p:txBody>
          <a:bodyPr wrap="none" lIns="27432" rIns="27432" tIns="27432" bIns="27432" anchor="ctr">
            <a:spAutoFit/>
          </a:bodyPr>
          <a:lstStyle/>
          <a:p>
            <a:pPr algn="l"/>
            <a:r>
              <a:rPr sz="960" b="0">
                <a:solidFill>
                  <a:srgbClr val="FFFFFF"/>
                </a:solidFill>
                <a:latin typeface="Arial"/>
              </a:rPr>
              <a:t>84M provides a better score–compute trade-off than 164M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284464" y="5303520"/>
            <a:ext cx="384048" cy="329184"/>
          </a:xfrm>
          <a:prstGeom prst="rect">
            <a:avLst/>
          </a:prstGeom>
          <a:noFill/>
        </p:spPr>
        <p:txBody>
          <a:bodyPr wrap="none" lIns="27432" rIns="27432" tIns="27432" bIns="27432" anchor="ctr">
            <a:spAutoFit/>
          </a:bodyPr>
          <a:lstStyle/>
          <a:p>
            <a:pPr algn="ctr"/>
            <a:r>
              <a:rPr sz="1000" b="1">
                <a:solidFill>
                  <a:srgbClr val="1C9792"/>
                </a:solidFill>
                <a:latin typeface="Arial"/>
              </a:rPr>
              <a:t>03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732520" y="5285232"/>
            <a:ext cx="2724912" cy="384048"/>
          </a:xfrm>
          <a:prstGeom prst="rect">
            <a:avLst/>
          </a:prstGeom>
          <a:noFill/>
        </p:spPr>
        <p:txBody>
          <a:bodyPr wrap="none" lIns="27432" rIns="27432" tIns="27432" bIns="27432" anchor="ctr">
            <a:spAutoFit/>
          </a:bodyPr>
          <a:lstStyle/>
          <a:p>
            <a:pPr algn="l"/>
            <a:r>
              <a:rPr sz="960" b="0">
                <a:solidFill>
                  <a:srgbClr val="FFFFFF"/>
                </a:solidFill>
                <a:latin typeface="Arial"/>
              </a:rPr>
              <a:t>Mandatory fusion can hurt; the router must support fallback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275320" y="5852160"/>
            <a:ext cx="3218688" cy="164592"/>
          </a:xfrm>
          <a:prstGeom prst="rect">
            <a:avLst/>
          </a:prstGeom>
          <a:noFill/>
        </p:spPr>
        <p:txBody>
          <a:bodyPr wrap="none" lIns="27432" rIns="27432" tIns="27432" bIns="27432" anchor="ctr">
            <a:spAutoFit/>
          </a:bodyPr>
          <a:lstStyle/>
          <a:p>
            <a:pPr algn="l"/>
            <a:r>
              <a:rPr sz="770" b="0">
                <a:solidFill>
                  <a:srgbClr val="B5C4D7"/>
                </a:solidFill>
                <a:latin typeface="Arial"/>
              </a:rPr>
              <a:t>Next: freeze V2.3 recipes, then run the 22-task test once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38912" y="219456"/>
            <a:ext cx="9875520" cy="384048"/>
          </a:xfrm>
          <a:prstGeom prst="rect">
            <a:avLst/>
          </a:prstGeom>
          <a:noFill/>
        </p:spPr>
        <p:txBody>
          <a:bodyPr wrap="none" lIns="27432" rIns="27432" tIns="27432" bIns="27432" anchor="ctr">
            <a:spAutoFit/>
          </a:bodyPr>
          <a:lstStyle/>
          <a:p>
            <a:pPr algn="l"/>
            <a:r>
              <a:rPr sz="2300" b="1">
                <a:solidFill>
                  <a:srgbClr val="0F1C32"/>
                </a:solidFill>
                <a:latin typeface="Arial"/>
              </a:rPr>
              <a:t>ADMET Agent V2.1: 22-Task Fixed-Test Results vs. TDC Leaderboard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612648"/>
            <a:ext cx="10607040" cy="228600"/>
          </a:xfrm>
          <a:prstGeom prst="rect">
            <a:avLst/>
          </a:prstGeom>
          <a:noFill/>
        </p:spPr>
        <p:txBody>
          <a:bodyPr wrap="none" lIns="27432" rIns="27432" tIns="27432" bIns="27432" anchor="ctr">
            <a:spAutoFit/>
          </a:bodyPr>
          <a:lstStyle/>
          <a:p>
            <a:pPr algn="l"/>
            <a:r>
              <a:rPr sz="919" b="0">
                <a:solidFill>
                  <a:srgbClr val="5E6C81"/>
                </a:solidFill>
                <a:latin typeface="Arial"/>
              </a:rPr>
              <a:t>TDC public leaderboard snapshot: 2026-08-13 07:09 UTC | Estimated rank after inserting our 5-seed mean into the public table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92840" y="228600"/>
            <a:ext cx="438912" cy="292608"/>
          </a:xfrm>
          <a:prstGeom prst="rect">
            <a:avLst/>
          </a:prstGeom>
          <a:noFill/>
        </p:spPr>
        <p:txBody>
          <a:bodyPr wrap="none" lIns="27432" rIns="27432" tIns="27432" bIns="27432" anchor="ctr">
            <a:spAutoFit/>
          </a:bodyPr>
          <a:lstStyle/>
          <a:p>
            <a:pPr algn="r"/>
            <a:r>
              <a:rPr sz="1200" b="1">
                <a:solidFill>
                  <a:srgbClr val="1C9792"/>
                </a:solidFill>
                <a:latin typeface="Arial"/>
              </a:rPr>
              <a:t>02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905256"/>
            <a:ext cx="11274552" cy="22860"/>
          </a:xfrm>
          <a:prstGeom prst="rect">
            <a:avLst/>
          </a:prstGeom>
          <a:solidFill>
            <a:srgbClr val="D3DC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475488" y="1060704"/>
            <a:ext cx="1325880" cy="493776"/>
          </a:xfrm>
          <a:prstGeom prst="roundRect">
            <a:avLst/>
          </a:prstGeom>
          <a:solidFill>
            <a:srgbClr val="1C979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1097280"/>
            <a:ext cx="694944" cy="173736"/>
          </a:xfrm>
          <a:prstGeom prst="rect">
            <a:avLst/>
          </a:prstGeom>
          <a:noFill/>
        </p:spPr>
        <p:txBody>
          <a:bodyPr wrap="none" lIns="27432" rIns="27432" tIns="27432" bIns="27432" anchor="ctr">
            <a:spAutoFit/>
          </a:bodyPr>
          <a:lstStyle/>
          <a:p>
            <a:pPr algn="l"/>
            <a:r>
              <a:rPr sz="680" b="1">
                <a:solidFill>
                  <a:srgbClr val="FFFFFF"/>
                </a:solidFill>
                <a:latin typeface="Arial"/>
              </a:rPr>
              <a:t>TOP-1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97864" y="1097280"/>
            <a:ext cx="512064" cy="192024"/>
          </a:xfrm>
          <a:prstGeom prst="rect">
            <a:avLst/>
          </a:prstGeom>
          <a:noFill/>
        </p:spPr>
        <p:txBody>
          <a:bodyPr wrap="none" lIns="27432" rIns="27432" tIns="27432" bIns="27432" anchor="ctr">
            <a:spAutoFit/>
          </a:bodyPr>
          <a:lstStyle/>
          <a:p>
            <a:pPr algn="r"/>
            <a:r>
              <a:rPr sz="1150" b="1">
                <a:solidFill>
                  <a:srgbClr val="FFFFFF"/>
                </a:solidFill>
                <a:latin typeface="Arial"/>
              </a:rPr>
              <a:t>3 / 22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965960" y="1060704"/>
            <a:ext cx="1325880" cy="493776"/>
          </a:xfrm>
          <a:prstGeom prst="roundRect">
            <a:avLst/>
          </a:prstGeom>
          <a:solidFill>
            <a:srgbClr val="1B2F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039112" y="1097280"/>
            <a:ext cx="694944" cy="173736"/>
          </a:xfrm>
          <a:prstGeom prst="rect">
            <a:avLst/>
          </a:prstGeom>
          <a:noFill/>
        </p:spPr>
        <p:txBody>
          <a:bodyPr wrap="none" lIns="27432" rIns="27432" tIns="27432" bIns="27432" anchor="ctr">
            <a:spAutoFit/>
          </a:bodyPr>
          <a:lstStyle/>
          <a:p>
            <a:pPr algn="l"/>
            <a:r>
              <a:rPr sz="680" b="1">
                <a:solidFill>
                  <a:srgbClr val="FFFFFF"/>
                </a:solidFill>
                <a:latin typeface="Arial"/>
              </a:rPr>
              <a:t>TOP-3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688336" y="1097280"/>
            <a:ext cx="512064" cy="192024"/>
          </a:xfrm>
          <a:prstGeom prst="rect">
            <a:avLst/>
          </a:prstGeom>
          <a:noFill/>
        </p:spPr>
        <p:txBody>
          <a:bodyPr wrap="none" lIns="27432" rIns="27432" tIns="27432" bIns="27432" anchor="ctr">
            <a:spAutoFit/>
          </a:bodyPr>
          <a:lstStyle/>
          <a:p>
            <a:pPr algn="r"/>
            <a:r>
              <a:rPr sz="1150" b="1">
                <a:solidFill>
                  <a:srgbClr val="FFFFFF"/>
                </a:solidFill>
                <a:latin typeface="Arial"/>
              </a:rPr>
              <a:t>7 / 22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456432" y="1060704"/>
            <a:ext cx="1325880" cy="493776"/>
          </a:xfrm>
          <a:prstGeom prst="roundRect">
            <a:avLst/>
          </a:prstGeom>
          <a:solidFill>
            <a:srgbClr val="6E5B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529584" y="1097280"/>
            <a:ext cx="694944" cy="173736"/>
          </a:xfrm>
          <a:prstGeom prst="rect">
            <a:avLst/>
          </a:prstGeom>
          <a:noFill/>
        </p:spPr>
        <p:txBody>
          <a:bodyPr wrap="none" lIns="27432" rIns="27432" tIns="27432" bIns="27432" anchor="ctr">
            <a:spAutoFit/>
          </a:bodyPr>
          <a:lstStyle/>
          <a:p>
            <a:pPr algn="l"/>
            <a:r>
              <a:rPr sz="680" b="1">
                <a:solidFill>
                  <a:srgbClr val="FFFFFF"/>
                </a:solidFill>
                <a:latin typeface="Arial"/>
              </a:rPr>
              <a:t>TOP-5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178808" y="1097280"/>
            <a:ext cx="512064" cy="192024"/>
          </a:xfrm>
          <a:prstGeom prst="rect">
            <a:avLst/>
          </a:prstGeom>
          <a:noFill/>
        </p:spPr>
        <p:txBody>
          <a:bodyPr wrap="none" lIns="27432" rIns="27432" tIns="27432" bIns="27432" anchor="ctr">
            <a:spAutoFit/>
          </a:bodyPr>
          <a:lstStyle/>
          <a:p>
            <a:pPr algn="r"/>
            <a:r>
              <a:rPr sz="1150" b="1">
                <a:solidFill>
                  <a:srgbClr val="FFFFFF"/>
                </a:solidFill>
                <a:latin typeface="Arial"/>
              </a:rPr>
              <a:t>13 / 22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946904" y="1060704"/>
            <a:ext cx="1325880" cy="493776"/>
          </a:xfrm>
          <a:prstGeom prst="roundRect">
            <a:avLst/>
          </a:prstGeom>
          <a:solidFill>
            <a:srgbClr val="EE8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20056" y="1097280"/>
            <a:ext cx="694944" cy="173736"/>
          </a:xfrm>
          <a:prstGeom prst="rect">
            <a:avLst/>
          </a:prstGeom>
          <a:noFill/>
        </p:spPr>
        <p:txBody>
          <a:bodyPr wrap="none" lIns="27432" rIns="27432" tIns="27432" bIns="27432" anchor="ctr">
            <a:spAutoFit/>
          </a:bodyPr>
          <a:lstStyle/>
          <a:p>
            <a:pPr algn="l"/>
            <a:r>
              <a:rPr sz="680" b="1">
                <a:solidFill>
                  <a:srgbClr val="FFFFFF"/>
                </a:solidFill>
                <a:latin typeface="Arial"/>
              </a:rPr>
              <a:t>TOP-10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669280" y="1097280"/>
            <a:ext cx="512064" cy="192024"/>
          </a:xfrm>
          <a:prstGeom prst="rect">
            <a:avLst/>
          </a:prstGeom>
          <a:noFill/>
        </p:spPr>
        <p:txBody>
          <a:bodyPr wrap="none" lIns="27432" rIns="27432" tIns="27432" bIns="27432" anchor="ctr">
            <a:spAutoFit/>
          </a:bodyPr>
          <a:lstStyle/>
          <a:p>
            <a:pPr algn="r"/>
            <a:r>
              <a:rPr sz="1150" b="1">
                <a:solidFill>
                  <a:srgbClr val="FFFFFF"/>
                </a:solidFill>
                <a:latin typeface="Arial"/>
              </a:rPr>
              <a:t>19 / 22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437376" y="1060704"/>
            <a:ext cx="1325880" cy="493776"/>
          </a:xfrm>
          <a:prstGeom prst="roundRect">
            <a:avLst/>
          </a:prstGeom>
          <a:solidFill>
            <a:srgbClr val="0F1C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510528" y="1097280"/>
            <a:ext cx="694944" cy="173736"/>
          </a:xfrm>
          <a:prstGeom prst="rect">
            <a:avLst/>
          </a:prstGeom>
          <a:noFill/>
        </p:spPr>
        <p:txBody>
          <a:bodyPr wrap="none" lIns="27432" rIns="27432" tIns="27432" bIns="27432" anchor="ctr">
            <a:spAutoFit/>
          </a:bodyPr>
          <a:lstStyle/>
          <a:p>
            <a:pPr algn="l"/>
            <a:r>
              <a:rPr sz="680" b="1">
                <a:solidFill>
                  <a:srgbClr val="FFFFFF"/>
                </a:solidFill>
                <a:latin typeface="Arial"/>
              </a:rPr>
              <a:t>MEDIAN RANK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159752" y="1097280"/>
            <a:ext cx="512064" cy="192024"/>
          </a:xfrm>
          <a:prstGeom prst="rect">
            <a:avLst/>
          </a:prstGeom>
          <a:noFill/>
        </p:spPr>
        <p:txBody>
          <a:bodyPr wrap="none" lIns="27432" rIns="27432" tIns="27432" bIns="27432" anchor="ctr">
            <a:spAutoFit/>
          </a:bodyPr>
          <a:lstStyle/>
          <a:p>
            <a:pPr algn="r"/>
            <a:r>
              <a:rPr sz="1150" b="1">
                <a:solidFill>
                  <a:srgbClr val="FFFFFF"/>
                </a:solidFill>
                <a:latin typeface="Arial"/>
              </a:rPr>
              <a:t>4.5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001000" y="1088136"/>
            <a:ext cx="3703320" cy="329184"/>
          </a:xfrm>
          <a:prstGeom prst="rect">
            <a:avLst/>
          </a:prstGeom>
          <a:noFill/>
        </p:spPr>
        <p:txBody>
          <a:bodyPr wrap="none" lIns="27432" rIns="27432" tIns="27432" bIns="27432" anchor="ctr">
            <a:spAutoFit/>
          </a:bodyPr>
          <a:lstStyle/>
          <a:p>
            <a:pPr algn="r"/>
            <a:r>
              <a:rPr sz="930" b="1">
                <a:solidFill>
                  <a:srgbClr val="24975F"/>
                </a:solidFill>
                <a:latin typeface="Arial"/>
              </a:rPr>
              <a:t>Projected Top-1: AMES · PPBR · Solubility</a:t>
            </a:r>
          </a:p>
        </p:txBody>
      </p:sp>
      <p:graphicFrame>
        <p:nvGraphicFramePr>
          <p:cNvPr id="22" name="Table 21"/>
          <p:cNvGraphicFramePr>
            <a:graphicFrameLocks noGrp="1"/>
          </p:cNvGraphicFramePr>
          <p:nvPr/>
        </p:nvGraphicFramePr>
        <p:xfrm>
          <a:off x="457200" y="1682496"/>
          <a:ext cx="11274552" cy="473659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75104"/>
                <a:gridCol w="804672"/>
                <a:gridCol w="1024128"/>
                <a:gridCol w="658368"/>
                <a:gridCol w="1508760"/>
                <a:gridCol w="5303520"/>
              </a:tblGrid>
              <a:tr h="205938">
                <a:tc>
                  <a:txBody>
                    <a:bodyPr/>
                    <a:lstStyle/>
                    <a:p>
                      <a:pPr algn="l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Task</a:t>
                      </a:r>
                    </a:p>
                  </a:txBody>
                  <a:tcPr marL="36576" marR="36576" marT="10972" marB="10972" anchor="ctr">
                    <a:solidFill>
                      <a:srgbClr val="0F1C3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Metric</a:t>
                      </a:r>
                    </a:p>
                  </a:txBody>
                  <a:tcPr marL="36576" marR="36576" marT="10972" marB="10972" anchor="ctr">
                    <a:solidFill>
                      <a:srgbClr val="0F1C3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Our Score</a:t>
                      </a:r>
                    </a:p>
                  </a:txBody>
                  <a:tcPr marL="36576" marR="36576" marT="10972" marB="10972" anchor="ctr">
                    <a:solidFill>
                      <a:srgbClr val="0F1C3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Rank</a:t>
                      </a:r>
                    </a:p>
                  </a:txBody>
                  <a:tcPr marL="36576" marR="36576" marT="10972" marB="10972" anchor="ctr">
                    <a:solidFill>
                      <a:srgbClr val="0F1C3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TDC Top-3</a:t>
                      </a:r>
                    </a:p>
                  </a:txBody>
                  <a:tcPr marL="36576" marR="36576" marT="10972" marB="10972" anchor="ctr">
                    <a:solidFill>
                      <a:srgbClr val="0F1C3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V2.1 Agent Solution (Validation-Selected)</a:t>
                      </a:r>
                    </a:p>
                  </a:txBody>
                  <a:tcPr marL="36576" marR="36576" marT="10972" marB="10972" anchor="ctr">
                    <a:solidFill>
                      <a:srgbClr val="0F1C32"/>
                    </a:solidFill>
                  </a:tcPr>
                </a:tc>
              </a:tr>
              <a:tr h="205938">
                <a:tc>
                  <a:txBody>
                    <a:bodyPr/>
                    <a:lstStyle/>
                    <a:p>
                      <a:pPr algn="l"/>
                      <a:r>
                        <a:rPr sz="715" b="0">
                          <a:solidFill>
                            <a:srgbClr val="1A2537"/>
                          </a:solidFill>
                          <a:latin typeface="Arial"/>
                        </a:rPr>
                        <a:t>AMES</a:t>
                      </a:r>
                    </a:p>
                  </a:txBody>
                  <a:tcPr marL="36576" marR="36576" marT="10972" marB="10972" anchor="ctr">
                    <a:solidFill>
                      <a:srgbClr val="E7F6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15" b="0">
                          <a:solidFill>
                            <a:srgbClr val="1A2537"/>
                          </a:solidFill>
                          <a:latin typeface="Arial"/>
                        </a:rPr>
                        <a:t>AUROC ↑</a:t>
                      </a:r>
                    </a:p>
                  </a:txBody>
                  <a:tcPr marL="36576" marR="36576" marT="10972" marB="10972" anchor="ctr">
                    <a:solidFill>
                      <a:srgbClr val="E7F6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15" b="1">
                          <a:solidFill>
                            <a:srgbClr val="1A2537"/>
                          </a:solidFill>
                          <a:latin typeface="Arial"/>
                        </a:rPr>
                        <a:t>0.874 ± 0.001</a:t>
                      </a:r>
                    </a:p>
                  </a:txBody>
                  <a:tcPr marL="36576" marR="36576" marT="10972" marB="10972" anchor="ctr">
                    <a:solidFill>
                      <a:srgbClr val="E7F6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15" b="1">
                          <a:solidFill>
                            <a:srgbClr val="24975F"/>
                          </a:solidFill>
                          <a:latin typeface="Arial"/>
                        </a:rPr>
                        <a:t>1/21</a:t>
                      </a:r>
                    </a:p>
                  </a:txBody>
                  <a:tcPr marL="36576" marR="36576" marT="10972" marB="10972" anchor="ctr">
                    <a:solidFill>
                      <a:srgbClr val="E7F6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15" b="0">
                          <a:solidFill>
                            <a:srgbClr val="1A2537"/>
                          </a:solidFill>
                          <a:latin typeface="Arial"/>
                        </a:rPr>
                        <a:t>0.871 / 0.870 / 0.869</a:t>
                      </a:r>
                    </a:p>
                  </a:txBody>
                  <a:tcPr marL="36576" marR="36576" marT="10972" marB="10972" anchor="ctr">
                    <a:solidFill>
                      <a:srgbClr val="E7F6E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690" b="0">
                          <a:solidFill>
                            <a:srgbClr val="1A2537"/>
                          </a:solidFill>
                          <a:latin typeface="Arial"/>
                        </a:rPr>
                        <a:t>Multi-view 2D (Morgan/Avalon/ErG/RDKit2D) → ET+XGB</a:t>
                      </a:r>
                    </a:p>
                  </a:txBody>
                  <a:tcPr marL="36576" marR="36576" marT="10972" marB="10972" anchor="ctr">
                    <a:solidFill>
                      <a:srgbClr val="E7F6EF"/>
                    </a:solidFill>
                  </a:tcPr>
                </a:tc>
              </a:tr>
              <a:tr h="205938">
                <a:tc>
                  <a:txBody>
                    <a:bodyPr/>
                    <a:lstStyle/>
                    <a:p>
                      <a:pPr algn="l"/>
                      <a:r>
                        <a:rPr sz="715" b="0">
                          <a:solidFill>
                            <a:srgbClr val="1A2537"/>
                          </a:solidFill>
                          <a:latin typeface="Arial"/>
                        </a:rPr>
                        <a:t>BBB_Martins</a:t>
                      </a:r>
                    </a:p>
                  </a:txBody>
                  <a:tcPr marL="36576" marR="36576" marT="10972" marB="10972" anchor="ctr">
                    <a:solidFill>
                      <a:srgbClr val="E7F6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15" b="0">
                          <a:solidFill>
                            <a:srgbClr val="1A2537"/>
                          </a:solidFill>
                          <a:latin typeface="Arial"/>
                        </a:rPr>
                        <a:t>AUROC ↑</a:t>
                      </a:r>
                    </a:p>
                  </a:txBody>
                  <a:tcPr marL="36576" marR="36576" marT="10972" marB="10972" anchor="ctr">
                    <a:solidFill>
                      <a:srgbClr val="E7F6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15" b="1">
                          <a:solidFill>
                            <a:srgbClr val="1A2537"/>
                          </a:solidFill>
                          <a:latin typeface="Arial"/>
                        </a:rPr>
                        <a:t>0.921 ± 0.002</a:t>
                      </a:r>
                    </a:p>
                  </a:txBody>
                  <a:tcPr marL="36576" marR="36576" marT="10972" marB="10972" anchor="ctr">
                    <a:solidFill>
                      <a:srgbClr val="E7F6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15" b="1">
                          <a:solidFill>
                            <a:srgbClr val="24975F"/>
                          </a:solidFill>
                          <a:latin typeface="Arial"/>
                        </a:rPr>
                        <a:t>2/27</a:t>
                      </a:r>
                    </a:p>
                  </a:txBody>
                  <a:tcPr marL="36576" marR="36576" marT="10972" marB="10972" anchor="ctr">
                    <a:solidFill>
                      <a:srgbClr val="E7F6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15" b="0">
                          <a:solidFill>
                            <a:srgbClr val="1A2537"/>
                          </a:solidFill>
                          <a:latin typeface="Arial"/>
                        </a:rPr>
                        <a:t>0.924 / 0.920 / 0.916</a:t>
                      </a:r>
                    </a:p>
                  </a:txBody>
                  <a:tcPr marL="36576" marR="36576" marT="10972" marB="10972" anchor="ctr">
                    <a:solidFill>
                      <a:srgbClr val="E7F6E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690" b="0">
                          <a:solidFill>
                            <a:srgbClr val="1A2537"/>
                          </a:solidFill>
                          <a:latin typeface="Arial"/>
                        </a:rPr>
                        <a:t>Multi-view 2D (Morgan/Avalon/ErG/RDKit2D) → RF+RF</a:t>
                      </a:r>
                    </a:p>
                  </a:txBody>
                  <a:tcPr marL="36576" marR="36576" marT="10972" marB="10972" anchor="ctr">
                    <a:solidFill>
                      <a:srgbClr val="E7F6EF"/>
                    </a:solidFill>
                  </a:tcPr>
                </a:tc>
              </a:tr>
              <a:tr h="205938">
                <a:tc>
                  <a:txBody>
                    <a:bodyPr/>
                    <a:lstStyle/>
                    <a:p>
                      <a:pPr algn="l"/>
                      <a:r>
                        <a:rPr sz="715" b="0">
                          <a:solidFill>
                            <a:srgbClr val="1A2537"/>
                          </a:solidFill>
                          <a:latin typeface="Arial"/>
                        </a:rPr>
                        <a:t>Bioavailability_Ma</a:t>
                      </a:r>
                    </a:p>
                  </a:txBody>
                  <a:tcPr marL="36576" marR="36576" marT="10972" marB="10972" anchor="ctr">
                    <a:solidFill>
                      <a:srgbClr val="FCEF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15" b="0">
                          <a:solidFill>
                            <a:srgbClr val="1A2537"/>
                          </a:solidFill>
                          <a:latin typeface="Arial"/>
                        </a:rPr>
                        <a:t>AUROC ↑</a:t>
                      </a:r>
                    </a:p>
                  </a:txBody>
                  <a:tcPr marL="36576" marR="36576" marT="10972" marB="10972" anchor="ctr">
                    <a:solidFill>
                      <a:srgbClr val="FCEF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15" b="0">
                          <a:solidFill>
                            <a:srgbClr val="1A2537"/>
                          </a:solidFill>
                          <a:latin typeface="Arial"/>
                        </a:rPr>
                        <a:t>0.697 ± 0.001</a:t>
                      </a:r>
                    </a:p>
                  </a:txBody>
                  <a:tcPr marL="36576" marR="36576" marT="10972" marB="10972" anchor="ctr">
                    <a:solidFill>
                      <a:srgbClr val="FCEF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15" b="1">
                          <a:solidFill>
                            <a:srgbClr val="CF4848"/>
                          </a:solidFill>
                          <a:latin typeface="Arial"/>
                        </a:rPr>
                        <a:t>21/21</a:t>
                      </a:r>
                    </a:p>
                  </a:txBody>
                  <a:tcPr marL="36576" marR="36576" marT="10972" marB="10972" anchor="ctr">
                    <a:solidFill>
                      <a:srgbClr val="FCEF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15" b="0">
                          <a:solidFill>
                            <a:srgbClr val="1A2537"/>
                          </a:solidFill>
                          <a:latin typeface="Arial"/>
                        </a:rPr>
                        <a:t>0.942 / 0.938 / 0.935</a:t>
                      </a:r>
                    </a:p>
                  </a:txBody>
                  <a:tcPr marL="36576" marR="36576" marT="10972" marB="10972" anchor="ctr">
                    <a:solidFill>
                      <a:srgbClr val="FCEFE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690" b="0">
                          <a:solidFill>
                            <a:srgbClr val="1A2537"/>
                          </a:solidFill>
                          <a:latin typeface="Arial"/>
                        </a:rPr>
                        <a:t>Multi-view 2D (Morgan/Avalon/ErG/RDKit2D) → RBF-SVM+RBF-SVM</a:t>
                      </a:r>
                    </a:p>
                  </a:txBody>
                  <a:tcPr marL="36576" marR="36576" marT="10972" marB="10972" anchor="ctr">
                    <a:solidFill>
                      <a:srgbClr val="FCEFEF"/>
                    </a:solidFill>
                  </a:tcPr>
                </a:tc>
              </a:tr>
              <a:tr h="205938">
                <a:tc>
                  <a:txBody>
                    <a:bodyPr/>
                    <a:lstStyle/>
                    <a:p>
                      <a:pPr algn="l"/>
                      <a:r>
                        <a:rPr sz="715" b="0">
                          <a:solidFill>
                            <a:srgbClr val="1A2537"/>
                          </a:solidFill>
                          <a:latin typeface="Arial"/>
                        </a:rPr>
                        <a:t>Caco2_Wang</a:t>
                      </a:r>
                    </a:p>
                  </a:txBody>
                  <a:tcPr marL="36576" marR="36576" marT="10972" marB="10972" anchor="ctr">
                    <a:solidFill>
                      <a:srgbClr val="EEF2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15" b="0">
                          <a:solidFill>
                            <a:srgbClr val="1A2537"/>
                          </a:solidFill>
                          <a:latin typeface="Arial"/>
                        </a:rPr>
                        <a:t>MAE ↓</a:t>
                      </a:r>
                    </a:p>
                  </a:txBody>
                  <a:tcPr marL="36576" marR="36576" marT="10972" marB="10972" anchor="ctr">
                    <a:solidFill>
                      <a:srgbClr val="EEF2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15" b="0">
                          <a:solidFill>
                            <a:srgbClr val="1A2537"/>
                          </a:solidFill>
                          <a:latin typeface="Arial"/>
                        </a:rPr>
                        <a:t>0.283 ± 0.007</a:t>
                      </a:r>
                    </a:p>
                  </a:txBody>
                  <a:tcPr marL="36576" marR="36576" marT="10972" marB="10972" anchor="ctr">
                    <a:solidFill>
                      <a:srgbClr val="EEF2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15" b="1">
                          <a:solidFill>
                            <a:srgbClr val="1B2F4E"/>
                          </a:solidFill>
                          <a:latin typeface="Arial"/>
                        </a:rPr>
                        <a:t>4/25</a:t>
                      </a:r>
                    </a:p>
                  </a:txBody>
                  <a:tcPr marL="36576" marR="36576" marT="10972" marB="10972" anchor="ctr">
                    <a:solidFill>
                      <a:srgbClr val="EEF2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15" b="0">
                          <a:solidFill>
                            <a:srgbClr val="1A2537"/>
                          </a:solidFill>
                          <a:latin typeface="Arial"/>
                        </a:rPr>
                        <a:t>0.256 / 0.274 / 0.276</a:t>
                      </a:r>
                    </a:p>
                  </a:txBody>
                  <a:tcPr marL="36576" marR="36576" marT="10972" marB="10972" anchor="ctr">
                    <a:solidFill>
                      <a:srgbClr val="EEF2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690" b="0">
                          <a:solidFill>
                            <a:srgbClr val="1A2537"/>
                          </a:solidFill>
                          <a:latin typeface="Arial"/>
                        </a:rPr>
                        <a:t>Multi-view 2D (Morgan/Avalon/ErG/RDKit2D) → LGB</a:t>
                      </a:r>
                    </a:p>
                  </a:txBody>
                  <a:tcPr marL="36576" marR="36576" marT="10972" marB="10972" anchor="ctr">
                    <a:solidFill>
                      <a:srgbClr val="EEF2F9"/>
                    </a:solidFill>
                  </a:tcPr>
                </a:tc>
              </a:tr>
              <a:tr h="205938">
                <a:tc>
                  <a:txBody>
                    <a:bodyPr/>
                    <a:lstStyle/>
                    <a:p>
                      <a:pPr algn="l"/>
                      <a:r>
                        <a:rPr sz="715" b="0">
                          <a:solidFill>
                            <a:srgbClr val="1A2537"/>
                          </a:solidFill>
                          <a:latin typeface="Arial"/>
                        </a:rPr>
                        <a:t>Clearance_Hepatocyte</a:t>
                      </a:r>
                    </a:p>
                  </a:txBody>
                  <a:tcPr marL="36576" marR="36576" marT="10972" marB="10972" anchor="ctr">
                    <a:solidFill>
                      <a:srgbClr val="EEF2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15" b="0">
                          <a:solidFill>
                            <a:srgbClr val="1A2537"/>
                          </a:solidFill>
                          <a:latin typeface="Arial"/>
                        </a:rPr>
                        <a:t>Spearman ↑</a:t>
                      </a:r>
                    </a:p>
                  </a:txBody>
                  <a:tcPr marL="36576" marR="36576" marT="10972" marB="10972" anchor="ctr">
                    <a:solidFill>
                      <a:srgbClr val="EEF2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15" b="0">
                          <a:solidFill>
                            <a:srgbClr val="1A2537"/>
                          </a:solidFill>
                          <a:latin typeface="Arial"/>
                        </a:rPr>
                        <a:t>0.456 ± 0.022</a:t>
                      </a:r>
                    </a:p>
                  </a:txBody>
                  <a:tcPr marL="36576" marR="36576" marT="10972" marB="10972" anchor="ctr">
                    <a:solidFill>
                      <a:srgbClr val="EEF2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15" b="1">
                          <a:solidFill>
                            <a:srgbClr val="1B2F4E"/>
                          </a:solidFill>
                          <a:latin typeface="Arial"/>
                        </a:rPr>
                        <a:t>4/19</a:t>
                      </a:r>
                    </a:p>
                  </a:txBody>
                  <a:tcPr marL="36576" marR="36576" marT="10972" marB="10972" anchor="ctr">
                    <a:solidFill>
                      <a:srgbClr val="EEF2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15" b="0">
                          <a:solidFill>
                            <a:srgbClr val="1A2537"/>
                          </a:solidFill>
                          <a:latin typeface="Arial"/>
                        </a:rPr>
                        <a:t>0.536 / 0.498 / 0.466</a:t>
                      </a:r>
                    </a:p>
                  </a:txBody>
                  <a:tcPr marL="36576" marR="36576" marT="10972" marB="10972" anchor="ctr">
                    <a:solidFill>
                      <a:srgbClr val="EEF2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690" b="0">
                          <a:solidFill>
                            <a:srgbClr val="1A2537"/>
                          </a:solidFill>
                          <a:latin typeface="Arial"/>
                        </a:rPr>
                        <a:t>Multi-view 2D (Morgan/Avalon/ErG/RDKit2D) → XGB+LGB</a:t>
                      </a:r>
                    </a:p>
                  </a:txBody>
                  <a:tcPr marL="36576" marR="36576" marT="10972" marB="10972" anchor="ctr">
                    <a:solidFill>
                      <a:srgbClr val="EEF2F9"/>
                    </a:solidFill>
                  </a:tcPr>
                </a:tc>
              </a:tr>
              <a:tr h="205938">
                <a:tc>
                  <a:txBody>
                    <a:bodyPr/>
                    <a:lstStyle/>
                    <a:p>
                      <a:pPr algn="l"/>
                      <a:r>
                        <a:rPr sz="715" b="0">
                          <a:solidFill>
                            <a:srgbClr val="1A2537"/>
                          </a:solidFill>
                          <a:latin typeface="Arial"/>
                        </a:rPr>
                        <a:t>Clearance_Microsome</a:t>
                      </a:r>
                    </a:p>
                  </a:txBody>
                  <a:tcPr marL="36576" marR="36576" marT="10972" marB="10972" anchor="ctr">
                    <a:solidFill>
                      <a:srgbClr val="E7F0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15" b="0">
                          <a:solidFill>
                            <a:srgbClr val="1A2537"/>
                          </a:solidFill>
                          <a:latin typeface="Arial"/>
                        </a:rPr>
                        <a:t>Spearman ↑</a:t>
                      </a:r>
                    </a:p>
                  </a:txBody>
                  <a:tcPr marL="36576" marR="36576" marT="10972" marB="10972" anchor="ctr">
                    <a:solidFill>
                      <a:srgbClr val="E7F0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15" b="0">
                          <a:solidFill>
                            <a:srgbClr val="1A2537"/>
                          </a:solidFill>
                          <a:latin typeface="Arial"/>
                        </a:rPr>
                        <a:t>0.591 ± 0.007</a:t>
                      </a:r>
                    </a:p>
                  </a:txBody>
                  <a:tcPr marL="36576" marR="36576" marT="10972" marB="10972" anchor="ctr">
                    <a:solidFill>
                      <a:srgbClr val="E7F0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15" b="1">
                          <a:solidFill>
                            <a:srgbClr val="EE8F37"/>
                          </a:solidFill>
                          <a:latin typeface="Arial"/>
                        </a:rPr>
                        <a:t>8/21</a:t>
                      </a:r>
                    </a:p>
                  </a:txBody>
                  <a:tcPr marL="36576" marR="36576" marT="10972" marB="10972" anchor="ctr">
                    <a:solidFill>
                      <a:srgbClr val="E7F0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15" b="0">
                          <a:solidFill>
                            <a:srgbClr val="1A2537"/>
                          </a:solidFill>
                          <a:latin typeface="Arial"/>
                        </a:rPr>
                        <a:t>0.630 / 0.628 / 0.626</a:t>
                      </a:r>
                    </a:p>
                  </a:txBody>
                  <a:tcPr marL="36576" marR="36576" marT="10972" marB="10972" anchor="ctr">
                    <a:solidFill>
                      <a:srgbClr val="E7F0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690" b="0">
                          <a:solidFill>
                            <a:srgbClr val="1A2537"/>
                          </a:solidFill>
                          <a:latin typeface="Arial"/>
                        </a:rPr>
                        <a:t>Multi-view 2D (Morgan/Avalon/ErG/RDKit2D) → XGB+XGB</a:t>
                      </a:r>
                    </a:p>
                  </a:txBody>
                  <a:tcPr marL="36576" marR="36576" marT="10972" marB="10972" anchor="ctr">
                    <a:solidFill>
                      <a:srgbClr val="E7F0F9"/>
                    </a:solidFill>
                  </a:tcPr>
                </a:tc>
              </a:tr>
              <a:tr h="205938">
                <a:tc>
                  <a:txBody>
                    <a:bodyPr/>
                    <a:lstStyle/>
                    <a:p>
                      <a:pPr algn="l"/>
                      <a:r>
                        <a:rPr sz="715" b="0">
                          <a:solidFill>
                            <a:srgbClr val="1A2537"/>
                          </a:solidFill>
                          <a:latin typeface="Arial"/>
                        </a:rPr>
                        <a:t>CYP2C9_Substrate</a:t>
                      </a:r>
                    </a:p>
                  </a:txBody>
                  <a:tcPr marL="36576" marR="36576" marT="10972" marB="10972" anchor="ctr">
                    <a:solidFill>
                      <a:srgbClr val="FCEF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15" b="0">
                          <a:solidFill>
                            <a:srgbClr val="1A2537"/>
                          </a:solidFill>
                          <a:latin typeface="Arial"/>
                        </a:rPr>
                        <a:t>AUPRC ↑</a:t>
                      </a:r>
                    </a:p>
                  </a:txBody>
                  <a:tcPr marL="36576" marR="36576" marT="10972" marB="10972" anchor="ctr">
                    <a:solidFill>
                      <a:srgbClr val="FCEF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15" b="0">
                          <a:solidFill>
                            <a:srgbClr val="1A2537"/>
                          </a:solidFill>
                          <a:latin typeface="Arial"/>
                        </a:rPr>
                        <a:t>0.333 ± 0.017</a:t>
                      </a:r>
                    </a:p>
                  </a:txBody>
                  <a:tcPr marL="36576" marR="36576" marT="10972" marB="10972" anchor="ctr">
                    <a:solidFill>
                      <a:srgbClr val="FCEF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15" b="1">
                          <a:solidFill>
                            <a:srgbClr val="CF4848"/>
                          </a:solidFill>
                          <a:latin typeface="Arial"/>
                        </a:rPr>
                        <a:t>20/21</a:t>
                      </a:r>
                    </a:p>
                  </a:txBody>
                  <a:tcPr marL="36576" marR="36576" marT="10972" marB="10972" anchor="ctr">
                    <a:solidFill>
                      <a:srgbClr val="FCEF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15" b="0">
                          <a:solidFill>
                            <a:srgbClr val="1A2537"/>
                          </a:solidFill>
                          <a:latin typeface="Arial"/>
                        </a:rPr>
                        <a:t>0.474 / 0.441 / 0.437</a:t>
                      </a:r>
                    </a:p>
                  </a:txBody>
                  <a:tcPr marL="36576" marR="36576" marT="10972" marB="10972" anchor="ctr">
                    <a:solidFill>
                      <a:srgbClr val="FCEFE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690" b="0">
                          <a:solidFill>
                            <a:srgbClr val="1A2537"/>
                          </a:solidFill>
                          <a:latin typeface="Arial"/>
                        </a:rPr>
                        <a:t>Multi-view 2D (Morgan/Avalon/ErG/RDKit2D) → LGB</a:t>
                      </a:r>
                    </a:p>
                  </a:txBody>
                  <a:tcPr marL="36576" marR="36576" marT="10972" marB="10972" anchor="ctr">
                    <a:solidFill>
                      <a:srgbClr val="FCEFEF"/>
                    </a:solidFill>
                  </a:tcPr>
                </a:tc>
              </a:tr>
              <a:tr h="205938">
                <a:tc>
                  <a:txBody>
                    <a:bodyPr/>
                    <a:lstStyle/>
                    <a:p>
                      <a:pPr algn="l"/>
                      <a:r>
                        <a:rPr sz="715" b="0">
                          <a:solidFill>
                            <a:srgbClr val="1A2537"/>
                          </a:solidFill>
                          <a:latin typeface="Arial"/>
                        </a:rPr>
                        <a:t>CYP2C9_Veith</a:t>
                      </a:r>
                    </a:p>
                  </a:txBody>
                  <a:tcPr marL="36576" marR="36576" marT="10972" marB="10972" anchor="ctr">
                    <a:solidFill>
                      <a:srgbClr val="EEF2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15" b="0">
                          <a:solidFill>
                            <a:srgbClr val="1A2537"/>
                          </a:solidFill>
                          <a:latin typeface="Arial"/>
                        </a:rPr>
                        <a:t>AUPRC ↑</a:t>
                      </a:r>
                    </a:p>
                  </a:txBody>
                  <a:tcPr marL="36576" marR="36576" marT="10972" marB="10972" anchor="ctr">
                    <a:solidFill>
                      <a:srgbClr val="EEF2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15" b="0">
                          <a:solidFill>
                            <a:srgbClr val="1A2537"/>
                          </a:solidFill>
                          <a:latin typeface="Arial"/>
                        </a:rPr>
                        <a:t>0.799 ± 0.001</a:t>
                      </a:r>
                    </a:p>
                  </a:txBody>
                  <a:tcPr marL="36576" marR="36576" marT="10972" marB="10972" anchor="ctr">
                    <a:solidFill>
                      <a:srgbClr val="EEF2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15" b="1">
                          <a:solidFill>
                            <a:srgbClr val="1B2F4E"/>
                          </a:solidFill>
                          <a:latin typeface="Arial"/>
                        </a:rPr>
                        <a:t>5/21</a:t>
                      </a:r>
                    </a:p>
                  </a:txBody>
                  <a:tcPr marL="36576" marR="36576" marT="10972" marB="10972" anchor="ctr">
                    <a:solidFill>
                      <a:srgbClr val="EEF2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15" b="0">
                          <a:solidFill>
                            <a:srgbClr val="1A2537"/>
                          </a:solidFill>
                          <a:latin typeface="Arial"/>
                        </a:rPr>
                        <a:t>0.859 / 0.839 / 0.829</a:t>
                      </a:r>
                    </a:p>
                  </a:txBody>
                  <a:tcPr marL="36576" marR="36576" marT="10972" marB="10972" anchor="ctr">
                    <a:solidFill>
                      <a:srgbClr val="EEF2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690" b="0">
                          <a:solidFill>
                            <a:srgbClr val="1A2537"/>
                          </a:solidFill>
                          <a:latin typeface="Arial"/>
                        </a:rPr>
                        <a:t>Multi-view 2D (Morgan/Avalon/ErG/RDKit2D) → LGB+XGB</a:t>
                      </a:r>
                    </a:p>
                  </a:txBody>
                  <a:tcPr marL="36576" marR="36576" marT="10972" marB="10972" anchor="ctr">
                    <a:solidFill>
                      <a:srgbClr val="EEF2F9"/>
                    </a:solidFill>
                  </a:tcPr>
                </a:tc>
              </a:tr>
              <a:tr h="205938">
                <a:tc>
                  <a:txBody>
                    <a:bodyPr/>
                    <a:lstStyle/>
                    <a:p>
                      <a:pPr algn="l"/>
                      <a:r>
                        <a:rPr sz="715" b="0">
                          <a:solidFill>
                            <a:srgbClr val="1A2537"/>
                          </a:solidFill>
                          <a:latin typeface="Arial"/>
                        </a:rPr>
                        <a:t>CYP2D6_Substrate</a:t>
                      </a:r>
                    </a:p>
                  </a:txBody>
                  <a:tcPr marL="36576" marR="36576" marT="10972" marB="10972" anchor="ctr">
                    <a:solidFill>
                      <a:srgbClr val="E7F6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15" b="0">
                          <a:solidFill>
                            <a:srgbClr val="1A2537"/>
                          </a:solidFill>
                          <a:latin typeface="Arial"/>
                        </a:rPr>
                        <a:t>AUPRC ↑</a:t>
                      </a:r>
                    </a:p>
                  </a:txBody>
                  <a:tcPr marL="36576" marR="36576" marT="10972" marB="10972" anchor="ctr">
                    <a:solidFill>
                      <a:srgbClr val="E7F6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15" b="1">
                          <a:solidFill>
                            <a:srgbClr val="1A2537"/>
                          </a:solidFill>
                          <a:latin typeface="Arial"/>
                        </a:rPr>
                        <a:t>0.721 ± 0.004</a:t>
                      </a:r>
                    </a:p>
                  </a:txBody>
                  <a:tcPr marL="36576" marR="36576" marT="10972" marB="10972" anchor="ctr">
                    <a:solidFill>
                      <a:srgbClr val="E7F6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15" b="1">
                          <a:solidFill>
                            <a:srgbClr val="24975F"/>
                          </a:solidFill>
                          <a:latin typeface="Arial"/>
                        </a:rPr>
                        <a:t>3/19</a:t>
                      </a:r>
                    </a:p>
                  </a:txBody>
                  <a:tcPr marL="36576" marR="36576" marT="10972" marB="10972" anchor="ctr">
                    <a:solidFill>
                      <a:srgbClr val="E7F6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15" b="0">
                          <a:solidFill>
                            <a:srgbClr val="1A2537"/>
                          </a:solidFill>
                          <a:latin typeface="Arial"/>
                        </a:rPr>
                        <a:t>0.736 / 0.731 / 0.720</a:t>
                      </a:r>
                    </a:p>
                  </a:txBody>
                  <a:tcPr marL="36576" marR="36576" marT="10972" marB="10972" anchor="ctr">
                    <a:solidFill>
                      <a:srgbClr val="E7F6E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690" b="0">
                          <a:solidFill>
                            <a:srgbClr val="1A2537"/>
                          </a:solidFill>
                          <a:latin typeface="Arial"/>
                        </a:rPr>
                        <a:t>Multi-view 2D (Morgan/Avalon/ErG/RDKit2D) → LGB+LGB</a:t>
                      </a:r>
                    </a:p>
                  </a:txBody>
                  <a:tcPr marL="36576" marR="36576" marT="10972" marB="10972" anchor="ctr">
                    <a:solidFill>
                      <a:srgbClr val="E7F6EF"/>
                    </a:solidFill>
                  </a:tcPr>
                </a:tc>
              </a:tr>
              <a:tr h="205938">
                <a:tc>
                  <a:txBody>
                    <a:bodyPr/>
                    <a:lstStyle/>
                    <a:p>
                      <a:pPr algn="l"/>
                      <a:r>
                        <a:rPr sz="715" b="0">
                          <a:solidFill>
                            <a:srgbClr val="1A2537"/>
                          </a:solidFill>
                          <a:latin typeface="Arial"/>
                        </a:rPr>
                        <a:t>CYP2D6_Veith</a:t>
                      </a:r>
                    </a:p>
                  </a:txBody>
                  <a:tcPr marL="36576" marR="36576" marT="10972" marB="10972" anchor="ctr">
                    <a:solidFill>
                      <a:srgbClr val="EEF2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15" b="0">
                          <a:solidFill>
                            <a:srgbClr val="1A2537"/>
                          </a:solidFill>
                          <a:latin typeface="Arial"/>
                        </a:rPr>
                        <a:t>AUPRC ↑</a:t>
                      </a:r>
                    </a:p>
                  </a:txBody>
                  <a:tcPr marL="36576" marR="36576" marT="10972" marB="10972" anchor="ctr">
                    <a:solidFill>
                      <a:srgbClr val="EEF2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15" b="0">
                          <a:solidFill>
                            <a:srgbClr val="1A2537"/>
                          </a:solidFill>
                          <a:latin typeface="Arial"/>
                        </a:rPr>
                        <a:t>0.721 ± 0.001</a:t>
                      </a:r>
                    </a:p>
                  </a:txBody>
                  <a:tcPr marL="36576" marR="36576" marT="10972" marB="10972" anchor="ctr">
                    <a:solidFill>
                      <a:srgbClr val="EEF2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15" b="1">
                          <a:solidFill>
                            <a:srgbClr val="1B2F4E"/>
                          </a:solidFill>
                          <a:latin typeface="Arial"/>
                        </a:rPr>
                        <a:t>4–5/20</a:t>
                      </a:r>
                    </a:p>
                  </a:txBody>
                  <a:tcPr marL="36576" marR="36576" marT="10972" marB="10972" anchor="ctr">
                    <a:solidFill>
                      <a:srgbClr val="EEF2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15" b="0">
                          <a:solidFill>
                            <a:srgbClr val="1A2537"/>
                          </a:solidFill>
                          <a:latin typeface="Arial"/>
                        </a:rPr>
                        <a:t>0.790 / 0.739 / 0.723</a:t>
                      </a:r>
                    </a:p>
                  </a:txBody>
                  <a:tcPr marL="36576" marR="36576" marT="10972" marB="10972" anchor="ctr">
                    <a:solidFill>
                      <a:srgbClr val="EEF2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690" b="0">
                          <a:solidFill>
                            <a:srgbClr val="1A2537"/>
                          </a:solidFill>
                          <a:latin typeface="Arial"/>
                        </a:rPr>
                        <a:t>Multi-view 2D (Morgan/Avalon/ErG/RDKit2D) → LGB+LGB</a:t>
                      </a:r>
                    </a:p>
                  </a:txBody>
                  <a:tcPr marL="36576" marR="36576" marT="10972" marB="10972" anchor="ctr">
                    <a:solidFill>
                      <a:srgbClr val="EEF2F9"/>
                    </a:solidFill>
                  </a:tcPr>
                </a:tc>
              </a:tr>
              <a:tr h="205938">
                <a:tc>
                  <a:txBody>
                    <a:bodyPr/>
                    <a:lstStyle/>
                    <a:p>
                      <a:pPr algn="l"/>
                      <a:r>
                        <a:rPr sz="715" b="0">
                          <a:solidFill>
                            <a:srgbClr val="1A2537"/>
                          </a:solidFill>
                          <a:latin typeface="Arial"/>
                        </a:rPr>
                        <a:t>CYP3A4_Substrate</a:t>
                      </a:r>
                    </a:p>
                  </a:txBody>
                  <a:tcPr marL="36576" marR="36576" marT="10972" marB="1097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15" b="0">
                          <a:solidFill>
                            <a:srgbClr val="1A2537"/>
                          </a:solidFill>
                          <a:latin typeface="Arial"/>
                        </a:rPr>
                        <a:t>AUROC ↑</a:t>
                      </a:r>
                    </a:p>
                  </a:txBody>
                  <a:tcPr marL="36576" marR="36576" marT="10972" marB="1097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15" b="0">
                          <a:solidFill>
                            <a:srgbClr val="1A2537"/>
                          </a:solidFill>
                          <a:latin typeface="Arial"/>
                        </a:rPr>
                        <a:t>0.633 ± 0.000</a:t>
                      </a:r>
                    </a:p>
                  </a:txBody>
                  <a:tcPr marL="36576" marR="36576" marT="10972" marB="1097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15" b="1">
                          <a:solidFill>
                            <a:srgbClr val="EE8F37"/>
                          </a:solidFill>
                          <a:latin typeface="Arial"/>
                        </a:rPr>
                        <a:t>9–10/20</a:t>
                      </a:r>
                    </a:p>
                  </a:txBody>
                  <a:tcPr marL="36576" marR="36576" marT="10972" marB="1097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15" b="0">
                          <a:solidFill>
                            <a:srgbClr val="1A2537"/>
                          </a:solidFill>
                          <a:latin typeface="Arial"/>
                        </a:rPr>
                        <a:t>0.667 / 0.663 / 0.662</a:t>
                      </a:r>
                    </a:p>
                  </a:txBody>
                  <a:tcPr marL="36576" marR="36576" marT="10972" marB="1097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690" b="0">
                          <a:solidFill>
                            <a:srgbClr val="1A2537"/>
                          </a:solidFill>
                          <a:latin typeface="Arial"/>
                        </a:rPr>
                        <a:t>Multi-view 2D (Morgan/Avalon/ErG/RDKit2D) → RBF-SVM+RBF-SVM</a:t>
                      </a:r>
                    </a:p>
                  </a:txBody>
                  <a:tcPr marL="36576" marR="36576" marT="10972" marB="10972" anchor="ctr">
                    <a:solidFill>
                      <a:srgbClr val="FFFFFF"/>
                    </a:solidFill>
                  </a:tcPr>
                </a:tc>
              </a:tr>
              <a:tr h="205938">
                <a:tc>
                  <a:txBody>
                    <a:bodyPr/>
                    <a:lstStyle/>
                    <a:p>
                      <a:pPr algn="l"/>
                      <a:r>
                        <a:rPr sz="715" b="0">
                          <a:solidFill>
                            <a:srgbClr val="1A2537"/>
                          </a:solidFill>
                          <a:latin typeface="Arial"/>
                        </a:rPr>
                        <a:t>CYP3A4_Veith</a:t>
                      </a:r>
                    </a:p>
                  </a:txBody>
                  <a:tcPr marL="36576" marR="36576" marT="10972" marB="10972" anchor="ctr">
                    <a:solidFill>
                      <a:srgbClr val="EEF2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15" b="0">
                          <a:solidFill>
                            <a:srgbClr val="1A2537"/>
                          </a:solidFill>
                          <a:latin typeface="Arial"/>
                        </a:rPr>
                        <a:t>AUPRC ↑</a:t>
                      </a:r>
                    </a:p>
                  </a:txBody>
                  <a:tcPr marL="36576" marR="36576" marT="10972" marB="10972" anchor="ctr">
                    <a:solidFill>
                      <a:srgbClr val="EEF2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15" b="0">
                          <a:solidFill>
                            <a:srgbClr val="1A2537"/>
                          </a:solidFill>
                          <a:latin typeface="Arial"/>
                        </a:rPr>
                        <a:t>0.885 ± 0.001</a:t>
                      </a:r>
                    </a:p>
                  </a:txBody>
                  <a:tcPr marL="36576" marR="36576" marT="10972" marB="10972" anchor="ctr">
                    <a:solidFill>
                      <a:srgbClr val="EEF2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15" b="1">
                          <a:solidFill>
                            <a:srgbClr val="1B2F4E"/>
                          </a:solidFill>
                          <a:latin typeface="Arial"/>
                        </a:rPr>
                        <a:t>4/20</a:t>
                      </a:r>
                    </a:p>
                  </a:txBody>
                  <a:tcPr marL="36576" marR="36576" marT="10972" marB="10972" anchor="ctr">
                    <a:solidFill>
                      <a:srgbClr val="EEF2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15" b="0">
                          <a:solidFill>
                            <a:srgbClr val="1A2537"/>
                          </a:solidFill>
                          <a:latin typeface="Arial"/>
                        </a:rPr>
                        <a:t>0.916 / 0.904 / 0.902</a:t>
                      </a:r>
                    </a:p>
                  </a:txBody>
                  <a:tcPr marL="36576" marR="36576" marT="10972" marB="10972" anchor="ctr">
                    <a:solidFill>
                      <a:srgbClr val="EEF2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690" b="0">
                          <a:solidFill>
                            <a:srgbClr val="1A2537"/>
                          </a:solidFill>
                          <a:latin typeface="Arial"/>
                        </a:rPr>
                        <a:t>Multi-view 2D (Morgan/Avalon/ErG/RDKit2D) → XGB+XGB</a:t>
                      </a:r>
                    </a:p>
                  </a:txBody>
                  <a:tcPr marL="36576" marR="36576" marT="10972" marB="10972" anchor="ctr">
                    <a:solidFill>
                      <a:srgbClr val="EEF2F9"/>
                    </a:solidFill>
                  </a:tcPr>
                </a:tc>
              </a:tr>
              <a:tr h="205938">
                <a:tc>
                  <a:txBody>
                    <a:bodyPr/>
                    <a:lstStyle/>
                    <a:p>
                      <a:pPr algn="l"/>
                      <a:r>
                        <a:rPr sz="715" b="0">
                          <a:solidFill>
                            <a:srgbClr val="1A2537"/>
                          </a:solidFill>
                          <a:latin typeface="Arial"/>
                        </a:rPr>
                        <a:t>DILI</a:t>
                      </a:r>
                    </a:p>
                  </a:txBody>
                  <a:tcPr marL="36576" marR="36576" marT="10972" marB="10972" anchor="ctr">
                    <a:solidFill>
                      <a:srgbClr val="FCEF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15" b="0">
                          <a:solidFill>
                            <a:srgbClr val="1A2537"/>
                          </a:solidFill>
                          <a:latin typeface="Arial"/>
                        </a:rPr>
                        <a:t>AUROC ↑</a:t>
                      </a:r>
                    </a:p>
                  </a:txBody>
                  <a:tcPr marL="36576" marR="36576" marT="10972" marB="10972" anchor="ctr">
                    <a:solidFill>
                      <a:srgbClr val="FCEF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15" b="0">
                          <a:solidFill>
                            <a:srgbClr val="1A2537"/>
                          </a:solidFill>
                          <a:latin typeface="Arial"/>
                        </a:rPr>
                        <a:t>0.859 ± 0.000</a:t>
                      </a:r>
                    </a:p>
                  </a:txBody>
                  <a:tcPr marL="36576" marR="36576" marT="10972" marB="10972" anchor="ctr">
                    <a:solidFill>
                      <a:srgbClr val="FCEF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15" b="1">
                          <a:solidFill>
                            <a:srgbClr val="CF4848"/>
                          </a:solidFill>
                          <a:latin typeface="Arial"/>
                        </a:rPr>
                        <a:t>16–17/21</a:t>
                      </a:r>
                    </a:p>
                  </a:txBody>
                  <a:tcPr marL="36576" marR="36576" marT="10972" marB="10972" anchor="ctr">
                    <a:solidFill>
                      <a:srgbClr val="FCEF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15" b="0">
                          <a:solidFill>
                            <a:srgbClr val="1A2537"/>
                          </a:solidFill>
                          <a:latin typeface="Arial"/>
                        </a:rPr>
                        <a:t>0.956 / 0.925 / 0.919</a:t>
                      </a:r>
                    </a:p>
                  </a:txBody>
                  <a:tcPr marL="36576" marR="36576" marT="10972" marB="10972" anchor="ctr">
                    <a:solidFill>
                      <a:srgbClr val="FCEFE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690" b="0">
                          <a:solidFill>
                            <a:srgbClr val="1A2537"/>
                          </a:solidFill>
                          <a:latin typeface="Arial"/>
                        </a:rPr>
                        <a:t>Multi-view 2D (Morgan/Avalon/ErG/RDKit2D) → RBF-SVM+RBF-SVM</a:t>
                      </a:r>
                    </a:p>
                  </a:txBody>
                  <a:tcPr marL="36576" marR="36576" marT="10972" marB="10972" anchor="ctr">
                    <a:solidFill>
                      <a:srgbClr val="FCEFEF"/>
                    </a:solidFill>
                  </a:tcPr>
                </a:tc>
              </a:tr>
              <a:tr h="205938">
                <a:tc>
                  <a:txBody>
                    <a:bodyPr/>
                    <a:lstStyle/>
                    <a:p>
                      <a:pPr algn="l"/>
                      <a:r>
                        <a:rPr sz="715" b="0">
                          <a:solidFill>
                            <a:srgbClr val="1A2537"/>
                          </a:solidFill>
                          <a:latin typeface="Arial"/>
                        </a:rPr>
                        <a:t>Half_Life_Obach</a:t>
                      </a:r>
                    </a:p>
                  </a:txBody>
                  <a:tcPr marL="36576" marR="36576" marT="10972" marB="10972" anchor="ctr">
                    <a:solidFill>
                      <a:srgbClr val="E7F0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15" b="0">
                          <a:solidFill>
                            <a:srgbClr val="1A2537"/>
                          </a:solidFill>
                          <a:latin typeface="Arial"/>
                        </a:rPr>
                        <a:t>Spearman ↑</a:t>
                      </a:r>
                    </a:p>
                  </a:txBody>
                  <a:tcPr marL="36576" marR="36576" marT="10972" marB="10972" anchor="ctr">
                    <a:solidFill>
                      <a:srgbClr val="E7F0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15" b="0">
                          <a:solidFill>
                            <a:srgbClr val="1A2537"/>
                          </a:solidFill>
                          <a:latin typeface="Arial"/>
                        </a:rPr>
                        <a:t>0.488 ± 0.000</a:t>
                      </a:r>
                    </a:p>
                  </a:txBody>
                  <a:tcPr marL="36576" marR="36576" marT="10972" marB="10972" anchor="ctr">
                    <a:solidFill>
                      <a:srgbClr val="E7F0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15" b="1">
                          <a:solidFill>
                            <a:srgbClr val="EE8F37"/>
                          </a:solidFill>
                          <a:latin typeface="Arial"/>
                        </a:rPr>
                        <a:t>7/21</a:t>
                      </a:r>
                    </a:p>
                  </a:txBody>
                  <a:tcPr marL="36576" marR="36576" marT="10972" marB="10972" anchor="ctr">
                    <a:solidFill>
                      <a:srgbClr val="E7F0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15" b="0">
                          <a:solidFill>
                            <a:srgbClr val="1A2537"/>
                          </a:solidFill>
                          <a:latin typeface="Arial"/>
                        </a:rPr>
                        <a:t>0.576 / 0.562 / 0.557</a:t>
                      </a:r>
                    </a:p>
                  </a:txBody>
                  <a:tcPr marL="36576" marR="36576" marT="10972" marB="10972" anchor="ctr">
                    <a:solidFill>
                      <a:srgbClr val="E7F0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690" b="0">
                          <a:solidFill>
                            <a:srgbClr val="1A2537"/>
                          </a:solidFill>
                          <a:latin typeface="Arial"/>
                        </a:rPr>
                        <a:t>Multi-view 2D (Morgan/Avalon/ErG/RDKit2D) → RBF-SVM+RBF-SVM</a:t>
                      </a:r>
                    </a:p>
                  </a:txBody>
                  <a:tcPr marL="36576" marR="36576" marT="10972" marB="10972" anchor="ctr">
                    <a:solidFill>
                      <a:srgbClr val="E7F0F9"/>
                    </a:solidFill>
                  </a:tcPr>
                </a:tc>
              </a:tr>
              <a:tr h="205938">
                <a:tc>
                  <a:txBody>
                    <a:bodyPr/>
                    <a:lstStyle/>
                    <a:p>
                      <a:pPr algn="l"/>
                      <a:r>
                        <a:rPr sz="715" b="0">
                          <a:solidFill>
                            <a:srgbClr val="1A2537"/>
                          </a:solidFill>
                          <a:latin typeface="Arial"/>
                        </a:rPr>
                        <a:t>hERG</a:t>
                      </a:r>
                    </a:p>
                  </a:txBody>
                  <a:tcPr marL="36576" marR="36576" marT="10972" marB="1097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15" b="0">
                          <a:solidFill>
                            <a:srgbClr val="1A2537"/>
                          </a:solidFill>
                          <a:latin typeface="Arial"/>
                        </a:rPr>
                        <a:t>AUROC ↑</a:t>
                      </a:r>
                    </a:p>
                  </a:txBody>
                  <a:tcPr marL="36576" marR="36576" marT="10972" marB="1097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15" b="0">
                          <a:solidFill>
                            <a:srgbClr val="1A2537"/>
                          </a:solidFill>
                          <a:latin typeface="Arial"/>
                        </a:rPr>
                        <a:t>0.834 ± 0.004</a:t>
                      </a:r>
                    </a:p>
                  </a:txBody>
                  <a:tcPr marL="36576" marR="36576" marT="10972" marB="1097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15" b="1">
                          <a:solidFill>
                            <a:srgbClr val="EE8F37"/>
                          </a:solidFill>
                          <a:latin typeface="Arial"/>
                        </a:rPr>
                        <a:t>10/21</a:t>
                      </a:r>
                    </a:p>
                  </a:txBody>
                  <a:tcPr marL="36576" marR="36576" marT="10972" marB="1097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15" b="0">
                          <a:solidFill>
                            <a:srgbClr val="1A2537"/>
                          </a:solidFill>
                          <a:latin typeface="Arial"/>
                        </a:rPr>
                        <a:t>0.880 / 0.875 / 0.874</a:t>
                      </a:r>
                    </a:p>
                  </a:txBody>
                  <a:tcPr marL="36576" marR="36576" marT="10972" marB="1097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690" b="0">
                          <a:solidFill>
                            <a:srgbClr val="1A2537"/>
                          </a:solidFill>
                          <a:latin typeface="Arial"/>
                        </a:rPr>
                        <a:t>Multi-view 2D (Morgan/Avalon/ErG/RDKit2D) → LGB</a:t>
                      </a:r>
                    </a:p>
                  </a:txBody>
                  <a:tcPr marL="36576" marR="36576" marT="10972" marB="10972" anchor="ctr">
                    <a:solidFill>
                      <a:srgbClr val="FFFFFF"/>
                    </a:solidFill>
                  </a:tcPr>
                </a:tc>
              </a:tr>
              <a:tr h="205938">
                <a:tc>
                  <a:txBody>
                    <a:bodyPr/>
                    <a:lstStyle/>
                    <a:p>
                      <a:pPr algn="l"/>
                      <a:r>
                        <a:rPr sz="715" b="0">
                          <a:solidFill>
                            <a:srgbClr val="1A2537"/>
                          </a:solidFill>
                          <a:latin typeface="Arial"/>
                        </a:rPr>
                        <a:t>HIA_Hou</a:t>
                      </a:r>
                    </a:p>
                  </a:txBody>
                  <a:tcPr marL="36576" marR="36576" marT="10972" marB="10972" anchor="ctr">
                    <a:solidFill>
                      <a:srgbClr val="E7F6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15" b="0">
                          <a:solidFill>
                            <a:srgbClr val="1A2537"/>
                          </a:solidFill>
                          <a:latin typeface="Arial"/>
                        </a:rPr>
                        <a:t>AUROC ↑</a:t>
                      </a:r>
                    </a:p>
                  </a:txBody>
                  <a:tcPr marL="36576" marR="36576" marT="10972" marB="10972" anchor="ctr">
                    <a:solidFill>
                      <a:srgbClr val="E7F6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15" b="1">
                          <a:solidFill>
                            <a:srgbClr val="1A2537"/>
                          </a:solidFill>
                          <a:latin typeface="Arial"/>
                        </a:rPr>
                        <a:t>0.990 ± 0.001</a:t>
                      </a:r>
                    </a:p>
                  </a:txBody>
                  <a:tcPr marL="36576" marR="36576" marT="10972" marB="10972" anchor="ctr">
                    <a:solidFill>
                      <a:srgbClr val="E7F6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15" b="1">
                          <a:solidFill>
                            <a:srgbClr val="24975F"/>
                          </a:solidFill>
                          <a:latin typeface="Arial"/>
                        </a:rPr>
                        <a:t>2–3/21</a:t>
                      </a:r>
                    </a:p>
                  </a:txBody>
                  <a:tcPr marL="36576" marR="36576" marT="10972" marB="10972" anchor="ctr">
                    <a:solidFill>
                      <a:srgbClr val="E7F6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15" b="0">
                          <a:solidFill>
                            <a:srgbClr val="1A2537"/>
                          </a:solidFill>
                          <a:latin typeface="Arial"/>
                        </a:rPr>
                        <a:t>0.993 / 0.990 / 0.989</a:t>
                      </a:r>
                    </a:p>
                  </a:txBody>
                  <a:tcPr marL="36576" marR="36576" marT="10972" marB="10972" anchor="ctr">
                    <a:solidFill>
                      <a:srgbClr val="E7F6E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690" b="0">
                          <a:solidFill>
                            <a:srgbClr val="1A2537"/>
                          </a:solidFill>
                          <a:latin typeface="Arial"/>
                        </a:rPr>
                        <a:t>Multi-view 2D (Morgan/Avalon/ErG/RDKit2D) → ET+ET</a:t>
                      </a:r>
                    </a:p>
                  </a:txBody>
                  <a:tcPr marL="36576" marR="36576" marT="10972" marB="10972" anchor="ctr">
                    <a:solidFill>
                      <a:srgbClr val="E7F6EF"/>
                    </a:solidFill>
                  </a:tcPr>
                </a:tc>
              </a:tr>
              <a:tr h="205938">
                <a:tc>
                  <a:txBody>
                    <a:bodyPr/>
                    <a:lstStyle/>
                    <a:p>
                      <a:pPr algn="l"/>
                      <a:r>
                        <a:rPr sz="715" b="0">
                          <a:solidFill>
                            <a:srgbClr val="1A2537"/>
                          </a:solidFill>
                          <a:latin typeface="Arial"/>
                        </a:rPr>
                        <a:t>LD50_Zhu</a:t>
                      </a:r>
                    </a:p>
                  </a:txBody>
                  <a:tcPr marL="36576" marR="36576" marT="10972" marB="10972" anchor="ctr">
                    <a:solidFill>
                      <a:srgbClr val="EEF2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15" b="0">
                          <a:solidFill>
                            <a:srgbClr val="1A2537"/>
                          </a:solidFill>
                          <a:latin typeface="Arial"/>
                        </a:rPr>
                        <a:t>MAE ↓</a:t>
                      </a:r>
                    </a:p>
                  </a:txBody>
                  <a:tcPr marL="36576" marR="36576" marT="10972" marB="10972" anchor="ctr">
                    <a:solidFill>
                      <a:srgbClr val="EEF2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15" b="0">
                          <a:solidFill>
                            <a:srgbClr val="1A2537"/>
                          </a:solidFill>
                          <a:latin typeface="Arial"/>
                        </a:rPr>
                        <a:t>0.591 ± 0.001</a:t>
                      </a:r>
                    </a:p>
                  </a:txBody>
                  <a:tcPr marL="36576" marR="36576" marT="10972" marB="10972" anchor="ctr">
                    <a:solidFill>
                      <a:srgbClr val="EEF2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15" b="1">
                          <a:solidFill>
                            <a:srgbClr val="1B2F4E"/>
                          </a:solidFill>
                          <a:latin typeface="Arial"/>
                        </a:rPr>
                        <a:t>5/23</a:t>
                      </a:r>
                    </a:p>
                  </a:txBody>
                  <a:tcPr marL="36576" marR="36576" marT="10972" marB="10972" anchor="ctr">
                    <a:solidFill>
                      <a:srgbClr val="EEF2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15" b="0">
                          <a:solidFill>
                            <a:srgbClr val="1A2537"/>
                          </a:solidFill>
                          <a:latin typeface="Arial"/>
                        </a:rPr>
                        <a:t>0.552 / 0.573 / 0.585</a:t>
                      </a:r>
                    </a:p>
                  </a:txBody>
                  <a:tcPr marL="36576" marR="36576" marT="10972" marB="10972" anchor="ctr">
                    <a:solidFill>
                      <a:srgbClr val="EEF2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690" b="0">
                          <a:solidFill>
                            <a:srgbClr val="1A2537"/>
                          </a:solidFill>
                          <a:latin typeface="Arial"/>
                        </a:rPr>
                        <a:t>Multi-view 2D (Morgan/Avalon/ErG/RDKit2D) → RF+RF</a:t>
                      </a:r>
                    </a:p>
                  </a:txBody>
                  <a:tcPr marL="36576" marR="36576" marT="10972" marB="10972" anchor="ctr">
                    <a:solidFill>
                      <a:srgbClr val="EEF2F9"/>
                    </a:solidFill>
                  </a:tcPr>
                </a:tc>
              </a:tr>
              <a:tr h="205938">
                <a:tc>
                  <a:txBody>
                    <a:bodyPr/>
                    <a:lstStyle/>
                    <a:p>
                      <a:pPr algn="l"/>
                      <a:r>
                        <a:rPr sz="715" b="0">
                          <a:solidFill>
                            <a:srgbClr val="1A2537"/>
                          </a:solidFill>
                          <a:latin typeface="Arial"/>
                        </a:rPr>
                        <a:t>Lipophilicity</a:t>
                      </a:r>
                    </a:p>
                  </a:txBody>
                  <a:tcPr marL="36576" marR="36576" marT="10972" marB="10972" anchor="ctr">
                    <a:solidFill>
                      <a:srgbClr val="E7F0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15" b="0">
                          <a:solidFill>
                            <a:srgbClr val="1A2537"/>
                          </a:solidFill>
                          <a:latin typeface="Arial"/>
                        </a:rPr>
                        <a:t>MAE ↓</a:t>
                      </a:r>
                    </a:p>
                  </a:txBody>
                  <a:tcPr marL="36576" marR="36576" marT="10972" marB="10972" anchor="ctr">
                    <a:solidFill>
                      <a:srgbClr val="E7F0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15" b="0">
                          <a:solidFill>
                            <a:srgbClr val="1A2537"/>
                          </a:solidFill>
                          <a:latin typeface="Arial"/>
                        </a:rPr>
                        <a:t>0.519 ± 0.002</a:t>
                      </a:r>
                    </a:p>
                  </a:txBody>
                  <a:tcPr marL="36576" marR="36576" marT="10972" marB="10972" anchor="ctr">
                    <a:solidFill>
                      <a:srgbClr val="E7F0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15" b="1">
                          <a:solidFill>
                            <a:srgbClr val="EE8F37"/>
                          </a:solidFill>
                          <a:latin typeface="Arial"/>
                        </a:rPr>
                        <a:t>7/22</a:t>
                      </a:r>
                    </a:p>
                  </a:txBody>
                  <a:tcPr marL="36576" marR="36576" marT="10972" marB="10972" anchor="ctr">
                    <a:solidFill>
                      <a:srgbClr val="E7F0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15" b="0">
                          <a:solidFill>
                            <a:srgbClr val="1A2537"/>
                          </a:solidFill>
                          <a:latin typeface="Arial"/>
                        </a:rPr>
                        <a:t>0.456 / 0.467 / 0.470</a:t>
                      </a:r>
                    </a:p>
                  </a:txBody>
                  <a:tcPr marL="36576" marR="36576" marT="10972" marB="10972" anchor="ctr">
                    <a:solidFill>
                      <a:srgbClr val="E7F0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690" b="0">
                          <a:solidFill>
                            <a:srgbClr val="1A2537"/>
                          </a:solidFill>
                          <a:latin typeface="Arial"/>
                        </a:rPr>
                        <a:t>Multi-view 2D (Morgan/Avalon/ErG/RDKit2D) → LGB+XGB</a:t>
                      </a:r>
                    </a:p>
                  </a:txBody>
                  <a:tcPr marL="36576" marR="36576" marT="10972" marB="10972" anchor="ctr">
                    <a:solidFill>
                      <a:srgbClr val="E7F0F9"/>
                    </a:solidFill>
                  </a:tcPr>
                </a:tc>
              </a:tr>
              <a:tr h="205938">
                <a:tc>
                  <a:txBody>
                    <a:bodyPr/>
                    <a:lstStyle/>
                    <a:p>
                      <a:pPr algn="l"/>
                      <a:r>
                        <a:rPr sz="715" b="0">
                          <a:solidFill>
                            <a:srgbClr val="1A2537"/>
                          </a:solidFill>
                          <a:latin typeface="Arial"/>
                        </a:rPr>
                        <a:t>Pgp_Broccatelli</a:t>
                      </a:r>
                    </a:p>
                  </a:txBody>
                  <a:tcPr marL="36576" marR="36576" marT="10972" marB="1097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15" b="0">
                          <a:solidFill>
                            <a:srgbClr val="1A2537"/>
                          </a:solidFill>
                          <a:latin typeface="Arial"/>
                        </a:rPr>
                        <a:t>AUROC ↑</a:t>
                      </a:r>
                    </a:p>
                  </a:txBody>
                  <a:tcPr marL="36576" marR="36576" marT="10972" marB="1097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15" b="0">
                          <a:solidFill>
                            <a:srgbClr val="1A2537"/>
                          </a:solidFill>
                          <a:latin typeface="Arial"/>
                        </a:rPr>
                        <a:t>0.912 ± 0.003</a:t>
                      </a:r>
                    </a:p>
                  </a:txBody>
                  <a:tcPr marL="36576" marR="36576" marT="10972" marB="1097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15" b="1">
                          <a:solidFill>
                            <a:srgbClr val="EE8F37"/>
                          </a:solidFill>
                          <a:latin typeface="Arial"/>
                        </a:rPr>
                        <a:t>8/17</a:t>
                      </a:r>
                    </a:p>
                  </a:txBody>
                  <a:tcPr marL="36576" marR="36576" marT="10972" marB="1097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15" b="0">
                          <a:solidFill>
                            <a:srgbClr val="1A2537"/>
                          </a:solidFill>
                          <a:latin typeface="Arial"/>
                        </a:rPr>
                        <a:t>0.938 / 0.935 / 0.930</a:t>
                      </a:r>
                    </a:p>
                  </a:txBody>
                  <a:tcPr marL="36576" marR="36576" marT="10972" marB="1097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690" b="0">
                          <a:solidFill>
                            <a:srgbClr val="1A2537"/>
                          </a:solidFill>
                          <a:latin typeface="Arial"/>
                        </a:rPr>
                        <a:t>Multi-view 2D (Morgan/Avalon/ErG/RDKit2D) → RF</a:t>
                      </a:r>
                    </a:p>
                  </a:txBody>
                  <a:tcPr marL="36576" marR="36576" marT="10972" marB="10972" anchor="ctr">
                    <a:solidFill>
                      <a:srgbClr val="FFFFFF"/>
                    </a:solidFill>
                  </a:tcPr>
                </a:tc>
              </a:tr>
              <a:tr h="205938">
                <a:tc>
                  <a:txBody>
                    <a:bodyPr/>
                    <a:lstStyle/>
                    <a:p>
                      <a:pPr algn="l"/>
                      <a:r>
                        <a:rPr sz="715" b="0">
                          <a:solidFill>
                            <a:srgbClr val="1A2537"/>
                          </a:solidFill>
                          <a:latin typeface="Arial"/>
                        </a:rPr>
                        <a:t>PPBR_AZ</a:t>
                      </a:r>
                    </a:p>
                  </a:txBody>
                  <a:tcPr marL="36576" marR="36576" marT="10972" marB="10972" anchor="ctr">
                    <a:solidFill>
                      <a:srgbClr val="E7F6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15" b="0">
                          <a:solidFill>
                            <a:srgbClr val="1A2537"/>
                          </a:solidFill>
                          <a:latin typeface="Arial"/>
                        </a:rPr>
                        <a:t>MAE ↓</a:t>
                      </a:r>
                    </a:p>
                  </a:txBody>
                  <a:tcPr marL="36576" marR="36576" marT="10972" marB="10972" anchor="ctr">
                    <a:solidFill>
                      <a:srgbClr val="E7F6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15" b="1">
                          <a:solidFill>
                            <a:srgbClr val="1A2537"/>
                          </a:solidFill>
                          <a:latin typeface="Arial"/>
                        </a:rPr>
                        <a:t>7.302 ± 0.042</a:t>
                      </a:r>
                    </a:p>
                  </a:txBody>
                  <a:tcPr marL="36576" marR="36576" marT="10972" marB="10972" anchor="ctr">
                    <a:solidFill>
                      <a:srgbClr val="E7F6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15" b="1">
                          <a:solidFill>
                            <a:srgbClr val="24975F"/>
                          </a:solidFill>
                          <a:latin typeface="Arial"/>
                        </a:rPr>
                        <a:t>1/21</a:t>
                      </a:r>
                    </a:p>
                  </a:txBody>
                  <a:tcPr marL="36576" marR="36576" marT="10972" marB="10972" anchor="ctr">
                    <a:solidFill>
                      <a:srgbClr val="E7F6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15" b="0">
                          <a:solidFill>
                            <a:srgbClr val="1A2537"/>
                          </a:solidFill>
                          <a:latin typeface="Arial"/>
                        </a:rPr>
                        <a:t>7.440 / 7.526 / 7.660</a:t>
                      </a:r>
                    </a:p>
                  </a:txBody>
                  <a:tcPr marL="36576" marR="36576" marT="10972" marB="10972" anchor="ctr">
                    <a:solidFill>
                      <a:srgbClr val="E7F6E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690" b="0">
                          <a:solidFill>
                            <a:srgbClr val="1A2537"/>
                          </a:solidFill>
                          <a:latin typeface="Arial"/>
                        </a:rPr>
                        <a:t>Multi-view 2D (Morgan/Avalon/ErG/RDKit2D) → LGB+LGB</a:t>
                      </a:r>
                    </a:p>
                  </a:txBody>
                  <a:tcPr marL="36576" marR="36576" marT="10972" marB="10972" anchor="ctr">
                    <a:solidFill>
                      <a:srgbClr val="E7F6EF"/>
                    </a:solidFill>
                  </a:tcPr>
                </a:tc>
              </a:tr>
              <a:tr h="205938">
                <a:tc>
                  <a:txBody>
                    <a:bodyPr/>
                    <a:lstStyle/>
                    <a:p>
                      <a:pPr algn="l"/>
                      <a:r>
                        <a:rPr sz="715" b="0">
                          <a:solidFill>
                            <a:srgbClr val="1A2537"/>
                          </a:solidFill>
                          <a:latin typeface="Arial"/>
                        </a:rPr>
                        <a:t>Solubility</a:t>
                      </a:r>
                    </a:p>
                  </a:txBody>
                  <a:tcPr marL="36576" marR="36576" marT="10972" marB="10972" anchor="ctr">
                    <a:solidFill>
                      <a:srgbClr val="E7F6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15" b="0">
                          <a:solidFill>
                            <a:srgbClr val="1A2537"/>
                          </a:solidFill>
                          <a:latin typeface="Arial"/>
                        </a:rPr>
                        <a:t>MAE ↓</a:t>
                      </a:r>
                    </a:p>
                  </a:txBody>
                  <a:tcPr marL="36576" marR="36576" marT="10972" marB="10972" anchor="ctr">
                    <a:solidFill>
                      <a:srgbClr val="E7F6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15" b="1">
                          <a:solidFill>
                            <a:srgbClr val="1A2537"/>
                          </a:solidFill>
                          <a:latin typeface="Arial"/>
                        </a:rPr>
                        <a:t>0.739 ± 0.002</a:t>
                      </a:r>
                    </a:p>
                  </a:txBody>
                  <a:tcPr marL="36576" marR="36576" marT="10972" marB="10972" anchor="ctr">
                    <a:solidFill>
                      <a:srgbClr val="E7F6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15" b="1">
                          <a:solidFill>
                            <a:srgbClr val="24975F"/>
                          </a:solidFill>
                          <a:latin typeface="Arial"/>
                        </a:rPr>
                        <a:t>1/19</a:t>
                      </a:r>
                    </a:p>
                  </a:txBody>
                  <a:tcPr marL="36576" marR="36576" marT="10972" marB="10972" anchor="ctr">
                    <a:solidFill>
                      <a:srgbClr val="E7F6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15" b="0">
                          <a:solidFill>
                            <a:srgbClr val="1A2537"/>
                          </a:solidFill>
                          <a:latin typeface="Arial"/>
                        </a:rPr>
                        <a:t>0.741 / 0.761 / 0.775</a:t>
                      </a:r>
                    </a:p>
                  </a:txBody>
                  <a:tcPr marL="36576" marR="36576" marT="10972" marB="10972" anchor="ctr">
                    <a:solidFill>
                      <a:srgbClr val="E7F6E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690" b="0">
                          <a:solidFill>
                            <a:srgbClr val="1A2537"/>
                          </a:solidFill>
                          <a:latin typeface="Arial"/>
                        </a:rPr>
                        <a:t>Multi-view 2D (Morgan/Avalon/ErG/RDKit2D) → LGB+LGB</a:t>
                      </a:r>
                    </a:p>
                  </a:txBody>
                  <a:tcPr marL="36576" marR="36576" marT="10972" marB="10972" anchor="ctr">
                    <a:solidFill>
                      <a:srgbClr val="E7F6EF"/>
                    </a:solidFill>
                  </a:tcPr>
                </a:tc>
              </a:tr>
              <a:tr h="205956">
                <a:tc>
                  <a:txBody>
                    <a:bodyPr/>
                    <a:lstStyle/>
                    <a:p>
                      <a:pPr algn="l"/>
                      <a:r>
                        <a:rPr sz="715" b="0">
                          <a:solidFill>
                            <a:srgbClr val="1A2537"/>
                          </a:solidFill>
                          <a:latin typeface="Arial"/>
                        </a:rPr>
                        <a:t>VDss_Lombardo</a:t>
                      </a:r>
                    </a:p>
                  </a:txBody>
                  <a:tcPr marL="36576" marR="36576" marT="10972" marB="10972" anchor="ctr">
                    <a:solidFill>
                      <a:srgbClr val="E7F6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15" b="0">
                          <a:solidFill>
                            <a:srgbClr val="1A2537"/>
                          </a:solidFill>
                          <a:latin typeface="Arial"/>
                        </a:rPr>
                        <a:t>Spearman ↑</a:t>
                      </a:r>
                    </a:p>
                  </a:txBody>
                  <a:tcPr marL="36576" marR="36576" marT="10972" marB="10972" anchor="ctr">
                    <a:solidFill>
                      <a:srgbClr val="E7F6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15" b="1">
                          <a:solidFill>
                            <a:srgbClr val="1A2537"/>
                          </a:solidFill>
                          <a:latin typeface="Arial"/>
                        </a:rPr>
                        <a:t>0.673 ± 0.001</a:t>
                      </a:r>
                    </a:p>
                  </a:txBody>
                  <a:tcPr marL="36576" marR="36576" marT="10972" marB="10972" anchor="ctr">
                    <a:solidFill>
                      <a:srgbClr val="E7F6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15" b="1">
                          <a:solidFill>
                            <a:srgbClr val="24975F"/>
                          </a:solidFill>
                          <a:latin typeface="Arial"/>
                        </a:rPr>
                        <a:t>3/20</a:t>
                      </a:r>
                    </a:p>
                  </a:txBody>
                  <a:tcPr marL="36576" marR="36576" marT="10972" marB="10972" anchor="ctr">
                    <a:solidFill>
                      <a:srgbClr val="E7F6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15" b="0">
                          <a:solidFill>
                            <a:srgbClr val="1A2537"/>
                          </a:solidFill>
                          <a:latin typeface="Arial"/>
                        </a:rPr>
                        <a:t>0.713 / 0.707 / 0.628</a:t>
                      </a:r>
                    </a:p>
                  </a:txBody>
                  <a:tcPr marL="36576" marR="36576" marT="10972" marB="10972" anchor="ctr">
                    <a:solidFill>
                      <a:srgbClr val="E7F6E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690" b="0">
                          <a:solidFill>
                            <a:srgbClr val="1A2537"/>
                          </a:solidFill>
                          <a:latin typeface="Arial"/>
                        </a:rPr>
                        <a:t>Multi-view 2D (Morgan/Avalon/ErG/RDKit2D) → ET</a:t>
                      </a:r>
                    </a:p>
                  </a:txBody>
                  <a:tcPr marL="36576" marR="36576" marT="10972" marB="10972" anchor="ctr">
                    <a:solidFill>
                      <a:srgbClr val="E7F6EF"/>
                    </a:solidFill>
                  </a:tcPr>
                </a:tc>
              </a:tr>
            </a:tbl>
          </a:graphicData>
        </a:graphic>
      </p:graphicFrame>
      <p:sp>
        <p:nvSpPr>
          <p:cNvPr id="23" name="TextBox 22"/>
          <p:cNvSpPr txBox="1"/>
          <p:nvPr/>
        </p:nvSpPr>
        <p:spPr>
          <a:xfrm>
            <a:off x="475488" y="6492240"/>
            <a:ext cx="8046720" cy="182880"/>
          </a:xfrm>
          <a:prstGeom prst="rect">
            <a:avLst/>
          </a:prstGeom>
          <a:noFill/>
        </p:spPr>
        <p:txBody>
          <a:bodyPr wrap="none" lIns="27432" rIns="27432" tIns="27432" bIns="27432" anchor="ctr">
            <a:spAutoFit/>
          </a:bodyPr>
          <a:lstStyle/>
          <a:p>
            <a:pPr algn="l"/>
            <a:r>
              <a:rPr sz="720" b="0">
                <a:solidFill>
                  <a:srgbClr val="5E6C81"/>
                </a:solidFill>
                <a:latin typeface="Arial"/>
              </a:rPr>
              <a:t>Note: Lower is better for MAE; higher is better otherwise. Rank ranges indicate ties; public scores are shown to three decimals.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156448" y="6492240"/>
            <a:ext cx="3566160" cy="182880"/>
          </a:xfrm>
          <a:prstGeom prst="rect">
            <a:avLst/>
          </a:prstGeom>
          <a:noFill/>
        </p:spPr>
        <p:txBody>
          <a:bodyPr wrap="none" lIns="27432" rIns="27432" tIns="27432" bIns="27432" anchor="ctr">
            <a:spAutoFit/>
          </a:bodyPr>
          <a:lstStyle/>
          <a:p>
            <a:pPr algn="r"/>
            <a:r>
              <a:rPr sz="720" b="1">
                <a:solidFill>
                  <a:srgbClr val="CF4848"/>
                </a:solidFill>
                <a:latin typeface="Arial"/>
              </a:rPr>
              <a:t>Not an official submission; new Uni-Mol2/router results are not included in these ranks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ADMET Agent V2.1 and Uni-Mol2</dc:title>
  <dc:subject>Two-slide architecture and TDC leaderboard briefing</dc:subject>
  <dc:creator>ADMET Agent Team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