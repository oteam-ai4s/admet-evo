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9456"/>
            <a:ext cx="9875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0F1C32"/>
                </a:solidFill>
                <a:latin typeface="Microsoft YaHei"/>
              </a:rPr>
              <a:t>ADMET Agent：端点自适应的 2D–3D 证据路由框架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060704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19" b="0">
                <a:solidFill>
                  <a:srgbClr val="5E6C81"/>
                </a:solidFill>
                <a:latin typeface="Microsoft YaHei"/>
              </a:rPr>
              <a:t>核心不是用单一模型覆盖全部任务，而是依据端点、数据与不确定性选择最可靠的专家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28600"/>
            <a:ext cx="438912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200" b="1">
                <a:solidFill>
                  <a:srgbClr val="1C9792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05256"/>
            <a:ext cx="11274552" cy="22860"/>
          </a:xfrm>
          <a:prstGeom prst="rect">
            <a:avLst/>
          </a:prstGeom>
          <a:solidFill>
            <a:srgbClr val="D3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33856"/>
            <a:ext cx="1371600" cy="859536"/>
          </a:xfrm>
          <a:prstGeom prst="roundRect">
            <a:avLst/>
          </a:prstGeom>
          <a:solidFill>
            <a:srgbClr val="0F1C32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YaHei"/>
              </a:rPr>
              <a:t>任务输入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Microsoft YaHei"/>
              </a:rPr>
              <a:t>SMILES · endpoint
metric · budget</a:t>
            </a:r>
          </a:p>
        </p:txBody>
      </p:sp>
      <p:sp>
        <p:nvSpPr>
          <p:cNvPr id="7" name="Chevron 6"/>
          <p:cNvSpPr/>
          <p:nvPr/>
        </p:nvSpPr>
        <p:spPr>
          <a:xfrm>
            <a:off x="1892807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57400" y="1133856"/>
            <a:ext cx="1508760" cy="859536"/>
          </a:xfrm>
          <a:prstGeom prst="roundRect">
            <a:avLst/>
          </a:prstGeom>
          <a:solidFill>
            <a:srgbClr val="1B2F4E"/>
          </a:solidFill>
          <a:ln w="13970">
            <a:solidFill>
              <a:srgbClr val="1B2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YaHei"/>
              </a:rPr>
              <a:t>数据治理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Microsoft YaHei"/>
              </a:rPr>
              <a:t>scaffold split
隔离审计</a:t>
            </a:r>
          </a:p>
        </p:txBody>
      </p:sp>
      <p:sp>
        <p:nvSpPr>
          <p:cNvPr id="9" name="Chevron 8"/>
          <p:cNvSpPr/>
          <p:nvPr/>
        </p:nvSpPr>
        <p:spPr>
          <a:xfrm>
            <a:off x="3630168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1133856"/>
            <a:ext cx="1536192" cy="859536"/>
          </a:xfrm>
          <a:prstGeom prst="roundRect">
            <a:avLst/>
          </a:prstGeom>
          <a:solidFill>
            <a:srgbClr val="6E5BB5"/>
          </a:solidFill>
          <a:ln w="13970">
            <a:solidFill>
              <a:srgbClr val="6E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YaHei"/>
              </a:rPr>
              <a:t>端点画像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Microsoft YaHei"/>
              </a:rPr>
              <a:t>规模/失衡/3D相关性
跨-seed稳定性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5394960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86984" y="1133856"/>
            <a:ext cx="1993392" cy="859536"/>
          </a:xfrm>
          <a:prstGeom prst="roundRect">
            <a:avLst/>
          </a:prstGeom>
          <a:solidFill>
            <a:srgbClr val="1C9792"/>
          </a:solidFill>
          <a:ln w="13970">
            <a:solidFill>
              <a:srgbClr val="1C97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YaHei"/>
              </a:rPr>
              <a:t>专家池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Microsoft YaHei"/>
              </a:rPr>
              <a:t>2D ML · Uni-Mol2 3D
target-transform · ensemble</a:t>
            </a:r>
          </a:p>
        </p:txBody>
      </p:sp>
      <p:sp>
        <p:nvSpPr>
          <p:cNvPr id="13" name="Chevron 12"/>
          <p:cNvSpPr/>
          <p:nvPr/>
        </p:nvSpPr>
        <p:spPr>
          <a:xfrm>
            <a:off x="7644384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36408" y="1133856"/>
            <a:ext cx="1591056" cy="859536"/>
          </a:xfrm>
          <a:prstGeom prst="roundRect">
            <a:avLst/>
          </a:prstGeom>
          <a:solidFill>
            <a:srgbClr val="EE8F37"/>
          </a:solidFill>
          <a:ln w="13970">
            <a:solidFill>
              <a:srgbClr val="EE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1A2537"/>
                </a:solidFill>
                <a:latin typeface="Microsoft YaHei"/>
              </a:rPr>
              <a:t>证据路由器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5E6C81"/>
                </a:solidFill>
                <a:latin typeface="Microsoft YaHei"/>
              </a:rPr>
              <a:t>LOSO + LCB
单模型/融合/回退</a:t>
            </a:r>
          </a:p>
        </p:txBody>
      </p:sp>
      <p:sp>
        <p:nvSpPr>
          <p:cNvPr id="15" name="Chevron 14"/>
          <p:cNvSpPr/>
          <p:nvPr/>
        </p:nvSpPr>
        <p:spPr>
          <a:xfrm>
            <a:off x="9491472" y="1426464"/>
            <a:ext cx="219456" cy="274320"/>
          </a:xfrm>
          <a:prstGeom prst="chevron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46920" y="1133856"/>
            <a:ext cx="2084831" cy="859536"/>
          </a:xfrm>
          <a:prstGeom prst="roundRect">
            <a:avLst/>
          </a:prstGeom>
          <a:solidFill>
            <a:srgbClr val="0F1C32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YaHei"/>
              </a:rPr>
              <a:t>冻结与评测</a:t>
            </a:r>
          </a:p>
          <a:p>
            <a:pPr algn="ctr">
              <a:spcBef>
                <a:spcPts val="300"/>
              </a:spcBef>
            </a:pPr>
            <a:r>
              <a:rPr sz="860" b="0">
                <a:solidFill>
                  <a:srgbClr val="FFFFFF"/>
                </a:solidFill>
                <a:latin typeface="Microsoft YaHei"/>
              </a:rPr>
              <a:t>锁定 recipe + hash
5 seeds → fixed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157984"/>
            <a:ext cx="2743200" cy="27432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0F1C32"/>
                </a:solidFill>
                <a:latin typeface="Microsoft YaHei"/>
              </a:rPr>
              <a:t>ROUTER 的四种可解释决策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2487168"/>
            <a:ext cx="2157984" cy="749808"/>
          </a:xfrm>
          <a:prstGeom prst="roundRect">
            <a:avLst/>
          </a:prstGeom>
          <a:solidFill>
            <a:srgbClr val="E7F0F9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0F1C32"/>
                </a:solidFill>
                <a:latin typeface="Microsoft YaHei"/>
              </a:rPr>
              <a:t>2D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Microsoft YaHei"/>
              </a:rPr>
              <a:t>Bioavailability
CYP2C9 Substrate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487168"/>
            <a:ext cx="2157984" cy="749808"/>
          </a:xfrm>
          <a:prstGeom prst="roundRect">
            <a:avLst/>
          </a:prstGeom>
          <a:solidFill>
            <a:srgbClr val="E2F5F1"/>
          </a:solidFill>
          <a:ln w="13970">
            <a:solidFill>
              <a:srgbClr val="249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5224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24975F"/>
                </a:solidFill>
                <a:latin typeface="Microsoft YaHei"/>
              </a:rPr>
              <a:t>3D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5224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Microsoft YaHei"/>
              </a:rPr>
              <a:t>Lipophilicity
Uni-Mol2 明显胜出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93792" y="2487168"/>
            <a:ext cx="2157984" cy="749808"/>
          </a:xfrm>
          <a:prstGeom prst="roundRect">
            <a:avLst/>
          </a:prstGeom>
          <a:solidFill>
            <a:srgbClr val="EEEBF9"/>
          </a:solidFill>
          <a:ln w="13970">
            <a:solidFill>
              <a:srgbClr val="6E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6E5BB5"/>
                </a:solidFill>
                <a:latin typeface="Microsoft YaHei"/>
              </a:rPr>
              <a:t>2D + 3D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94376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Microsoft YaHei"/>
              </a:rPr>
              <a:t>DILI · hERG
异构证据互补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2944" y="2487168"/>
            <a:ext cx="2157984" cy="749808"/>
          </a:xfrm>
          <a:prstGeom prst="roundRect">
            <a:avLst/>
          </a:prstGeom>
          <a:solidFill>
            <a:srgbClr val="FDEFE0"/>
          </a:solidFill>
          <a:ln w="13970">
            <a:solidFill>
              <a:srgbClr val="EE8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53527" y="2551176"/>
            <a:ext cx="1956816" cy="20116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EE8F37"/>
                </a:solidFill>
                <a:latin typeface="Microsoft YaHei"/>
              </a:rPr>
              <a:t>RANK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7" y="2770632"/>
            <a:ext cx="1956816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1A2537"/>
                </a:solidFill>
                <a:latin typeface="Microsoft YaHei"/>
              </a:rPr>
              <a:t>Half-Life
3D + 排序目标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12096" y="2487168"/>
            <a:ext cx="1810512" cy="749808"/>
          </a:xfrm>
          <a:prstGeom prst="roundRect">
            <a:avLst/>
          </a:prstGeom>
          <a:solidFill>
            <a:srgbClr val="0F1C32"/>
          </a:solidFill>
          <a:ln w="13970">
            <a:solidFill>
              <a:srgbClr val="0F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rIns="100584" tIns="64008" bIns="64008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V2.1 BASELINE</a:t>
            </a:r>
          </a:p>
          <a:p>
            <a:pPr algn="ctr">
              <a:spcBef>
                <a:spcPts val="300"/>
              </a:spcBef>
            </a:pPr>
            <a:r>
              <a:rPr sz="900" b="0">
                <a:solidFill>
                  <a:srgbClr val="FFFFFF"/>
                </a:solidFill>
                <a:latin typeface="Microsoft YaHei"/>
              </a:rPr>
              <a:t>Top-1  3/22
Top-5  13/22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456432"/>
            <a:ext cx="685800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120" b="1">
                <a:solidFill>
                  <a:srgbClr val="0F1C32"/>
                </a:solidFill>
                <a:latin typeface="Microsoft YaHei"/>
              </a:rPr>
              <a:t>Uni-Mol2 84M：六任务严格 scaffold validation（test 未使用）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75488" y="3785615"/>
          <a:ext cx="73609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05840"/>
                <a:gridCol w="1143000"/>
                <a:gridCol w="2286000"/>
              </a:tblGrid>
              <a:tr h="334409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Metric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Best 2D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Uni-Mol2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Router 决策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Bioavailability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0.7146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0.7008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Microsoft YaHei"/>
                        </a:rPr>
                        <a:t>2D / 谨慎融合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CYP2C9 Sub.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0.4801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0.3563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Microsoft YaHei"/>
                        </a:rPr>
                        <a:t>回退 2D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DILI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0.8654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0.8635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Microsoft YaHei"/>
                        </a:rPr>
                        <a:t>2D+3D 融合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Half-Life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0.4374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24975F"/>
                          </a:solidFill>
                          <a:latin typeface="Microsoft YaHei"/>
                        </a:rPr>
                        <a:t>0.4511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Microsoft YaHei"/>
                        </a:rPr>
                        <a:t>排序异构融合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33440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Lipophilicity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0.5192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24975F"/>
                          </a:solidFill>
                          <a:latin typeface="Microsoft YaHei"/>
                        </a:rPr>
                        <a:t>0.4066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Microsoft YaHei"/>
                        </a:rPr>
                        <a:t>Uni-Mol2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334410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hERG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A2537"/>
                          </a:solidFill>
                          <a:latin typeface="Microsoft YaHei"/>
                        </a:rPr>
                        <a:t>0.8867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24975F"/>
                          </a:solidFill>
                          <a:latin typeface="Microsoft YaHei"/>
                        </a:rPr>
                        <a:t>0.8916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2537"/>
                          </a:solidFill>
                          <a:latin typeface="Microsoft YaHei"/>
                        </a:rPr>
                        <a:t>2D+3D 融合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8065008" y="3584448"/>
            <a:ext cx="3657600" cy="2542032"/>
          </a:xfrm>
          <a:prstGeom prst="roundRect">
            <a:avLst/>
          </a:prstGeom>
          <a:solidFill>
            <a:srgbClr val="0F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767328"/>
            <a:ext cx="3246120" cy="31089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目前得到的三个结论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206240"/>
            <a:ext cx="38404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C9792"/>
                </a:solidFill>
                <a:latin typeface="Microsoft YaHei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187952"/>
            <a:ext cx="272491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60" b="1">
                <a:solidFill>
                  <a:srgbClr val="FFFFFF"/>
                </a:solidFill>
                <a:latin typeface="Microsoft YaHei"/>
              </a:rPr>
              <a:t>Uni-Mol2 是端点专家，不是全任务替代品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754879"/>
            <a:ext cx="38404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C9792"/>
                </a:solidFill>
                <a:latin typeface="Microsoft YaHei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4736592"/>
            <a:ext cx="272491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60" b="0">
                <a:solidFill>
                  <a:srgbClr val="FFFFFF"/>
                </a:solidFill>
                <a:latin typeface="Microsoft YaHei"/>
              </a:rPr>
              <a:t>84M 优于 164M 的 score/compute 权衡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5303520"/>
            <a:ext cx="384048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C9792"/>
                </a:solidFill>
                <a:latin typeface="Microsoft Ya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285232"/>
            <a:ext cx="272491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60" b="0">
                <a:solidFill>
                  <a:srgbClr val="FFFFFF"/>
                </a:solidFill>
                <a:latin typeface="Microsoft YaHei"/>
              </a:rPr>
              <a:t>强制融合会伤分；Router 必须允许回退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852160"/>
            <a:ext cx="3218688" cy="164592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70" b="0">
                <a:solidFill>
                  <a:srgbClr val="B5C4D7"/>
                </a:solidFill>
                <a:latin typeface="Microsoft YaHei"/>
              </a:rPr>
              <a:t>下一步：冻结 v2.3 recipe 后一次性运行 22-task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19456"/>
            <a:ext cx="9875520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0F1C32"/>
                </a:solidFill>
                <a:latin typeface="Microsoft YaHei"/>
              </a:rPr>
              <a:t>ADMET Agent V2.1：22-task 官方 fixed-test 自测与当前榜单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"/>
            <a:ext cx="10607040" cy="22860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919" b="0">
                <a:solidFill>
                  <a:srgbClr val="5E6C81"/>
                </a:solidFill>
                <a:latin typeface="Microsoft YaHei"/>
              </a:rPr>
              <a:t>TDC public leaderboard snapshot: 2026-08-13 07:09 UTC ｜ Rank = 将我们的 5-seed mean 插入公开榜单后的估算名次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28600"/>
            <a:ext cx="438912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200" b="1">
                <a:solidFill>
                  <a:srgbClr val="1C9792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05256"/>
            <a:ext cx="11274552" cy="22860"/>
          </a:xfrm>
          <a:prstGeom prst="rect">
            <a:avLst/>
          </a:prstGeom>
          <a:solidFill>
            <a:srgbClr val="D3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" y="1060704"/>
            <a:ext cx="1325880" cy="493776"/>
          </a:xfrm>
          <a:prstGeom prst="roundRect">
            <a:avLst/>
          </a:prstGeom>
          <a:solidFill>
            <a:srgbClr val="1C9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Microsoft YaHei"/>
              </a:rPr>
              <a:t>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Microsoft YaHei"/>
              </a:rPr>
              <a:t>3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060704"/>
            <a:ext cx="1325880" cy="493776"/>
          </a:xfrm>
          <a:prstGeom prst="roundRect">
            <a:avLst/>
          </a:prstGeom>
          <a:solidFill>
            <a:srgbClr val="1B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Microsoft YaHei"/>
              </a:rPr>
              <a:t>TOP-3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Microsoft YaHei"/>
              </a:rPr>
              <a:t>7 / 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060704"/>
            <a:ext cx="1325880" cy="493776"/>
          </a:xfrm>
          <a:prstGeom prst="roundRect">
            <a:avLst/>
          </a:prstGeom>
          <a:solidFill>
            <a:srgbClr val="6E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Microsoft YaHei"/>
              </a:rPr>
              <a:t>TOP-5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Microsoft YaHei"/>
              </a:rPr>
              <a:t>13 / 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6904" y="1060704"/>
            <a:ext cx="1325880" cy="493776"/>
          </a:xfrm>
          <a:prstGeom prst="roundRect">
            <a:avLst/>
          </a:prstGeom>
          <a:solidFill>
            <a:srgbClr val="EE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Microsoft YaHei"/>
              </a:rPr>
              <a:t>TOP-10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Microsoft YaHei"/>
              </a:rPr>
              <a:t>19 / 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060704"/>
            <a:ext cx="1325880" cy="493776"/>
          </a:xfrm>
          <a:prstGeom prst="roundRect">
            <a:avLst/>
          </a:prstGeom>
          <a:solidFill>
            <a:srgbClr val="0F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097280"/>
            <a:ext cx="694944" cy="173736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Microsoft YaHei"/>
              </a:rPr>
              <a:t>MEDIAN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1097280"/>
            <a:ext cx="512064" cy="19202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1150" b="1">
                <a:solidFill>
                  <a:srgbClr val="FFFFFF"/>
                </a:solidFill>
                <a:latin typeface="Microsoft YaHei"/>
              </a:rPr>
              <a:t>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088136"/>
            <a:ext cx="3703320" cy="329184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930" b="1">
                <a:solidFill>
                  <a:srgbClr val="24975F"/>
                </a:solidFill>
                <a:latin typeface="Microsoft YaHei"/>
              </a:rPr>
              <a:t>预计 Top-1：AMES · PPBR · Solubility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682496"/>
          <a:ext cx="1127455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804672"/>
                <a:gridCol w="1024128"/>
                <a:gridCol w="658368"/>
                <a:gridCol w="1508760"/>
                <a:gridCol w="5303520"/>
              </a:tblGrid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Task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Metric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Our score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Rank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TDC Top-3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V2.1 Agent solution（validation-selected）</a:t>
                      </a:r>
                    </a:p>
                  </a:txBody>
                  <a:tcPr marL="36576" marR="36576" marT="10972" marB="10972" anchor="ctr">
                    <a:solidFill>
                      <a:srgbClr val="0F1C32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AMES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0.874 ± 0.001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1/21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0.871 / 0.870 / 0.869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ET+XGB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BBB_Martins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0.921 ± 0.002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2/27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0.924 / 0.920 / 0.916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RF+RF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Bioavailability_Ma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0.697 ± 0.001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CF4848"/>
                          </a:solidFill>
                          <a:latin typeface="Microsoft YaHei"/>
                        </a:rPr>
                        <a:t>21/21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0.942 / 0.938 / 0.935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RBF-SVM+RBF-SVM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Caco2_Wang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0.283 ± 0.007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Microsoft YaHei"/>
                        </a:rPr>
                        <a:t>4/25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0.256 / 0.274 / 0.276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Clearance_Hepatocyte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0.456 ± 0.022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Microsoft YaHei"/>
                        </a:rPr>
                        <a:t>4/19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0.536 / 0.498 / 0.466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XGB+LGB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Clearance_Microsome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0.591 ± 0.007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Microsoft YaHei"/>
                        </a:rPr>
                        <a:t>8/21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0.630 / 0.628 / 0.626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XGB+XGB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CYP2C9_Substrate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0.333 ± 0.017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CF4848"/>
                          </a:solidFill>
                          <a:latin typeface="Microsoft YaHei"/>
                        </a:rPr>
                        <a:t>20/21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0.474 / 0.441 / 0.437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CYP2C9_Veith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0.799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Microsoft YaHei"/>
                        </a:rPr>
                        <a:t>5/21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0.859 / 0.839 / 0.829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LGB+XGB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CYP2D6_Substrate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0.721 ± 0.004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3/19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0.736 / 0.731 / 0.720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LGB+LGB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CYP2D6_Veith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0.721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Microsoft YaHei"/>
                        </a:rPr>
                        <a:t>4–5/20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0.790 / 0.739 / 0.723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LGB+LGB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CYP3A4_Substrate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0.633 ± 0.000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Microsoft YaHei"/>
                        </a:rPr>
                        <a:t>9–10/20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0.667 / 0.663 / 0.662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RBF-SVM+RBF-SVM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CYP3A4_Veith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AUPRC ↑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0.885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Microsoft YaHei"/>
                        </a:rPr>
                        <a:t>4/20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0.916 / 0.904 / 0.902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XGB+XGB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DILI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0.859 ± 0.000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CF4848"/>
                          </a:solidFill>
                          <a:latin typeface="Microsoft YaHei"/>
                        </a:rPr>
                        <a:t>16–17/21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0.956 / 0.925 / 0.919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RBF-SVM+RBF-SVM</a:t>
                      </a:r>
                    </a:p>
                  </a:txBody>
                  <a:tcPr marL="36576" marR="36576" marT="10972" marB="10972" anchor="ctr">
                    <a:solidFill>
                      <a:srgbClr val="FCEF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Half_Life_Obach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0.488 ± 0.000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Microsoft YaHei"/>
                        </a:rPr>
                        <a:t>7/21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0.576 / 0.562 / 0.557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RBF-SVM+RBF-SVM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hERG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0.834 ± 0.004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Microsoft YaHei"/>
                        </a:rPr>
                        <a:t>10/21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0.880 / 0.875 / 0.874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HIA_Hou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0.990 ± 0.001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2–3/21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0.993 / 0.990 / 0.989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ET+ET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LD50_Zhu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0.591 ± 0.001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B2F4E"/>
                          </a:solidFill>
                          <a:latin typeface="Microsoft YaHei"/>
                        </a:rPr>
                        <a:t>5/23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0.552 / 0.573 / 0.585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RF+RF</a:t>
                      </a:r>
                    </a:p>
                  </a:txBody>
                  <a:tcPr marL="36576" marR="36576" marT="10972" marB="10972" anchor="ctr">
                    <a:solidFill>
                      <a:srgbClr val="EEF2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Lipophilicity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0.519 ± 0.002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Microsoft YaHei"/>
                        </a:rPr>
                        <a:t>7/22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0.456 / 0.467 / 0.470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LGB+XGB</a:t>
                      </a:r>
                    </a:p>
                  </a:txBody>
                  <a:tcPr marL="36576" marR="36576" marT="10972" marB="10972" anchor="ctr">
                    <a:solidFill>
                      <a:srgbClr val="E7F0F9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Pgp_Broccatelli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AUROC ↑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0.912 ± 0.003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EE8F37"/>
                          </a:solidFill>
                          <a:latin typeface="Microsoft YaHei"/>
                        </a:rPr>
                        <a:t>8/17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0.938 / 0.935 / 0.930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RF</a:t>
                      </a:r>
                    </a:p>
                  </a:txBody>
                  <a:tcPr marL="36576" marR="36576" marT="10972" marB="10972" anchor="ctr">
                    <a:solidFill>
                      <a:srgbClr val="FFFFF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PPBR_AZ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7.302 ± 0.042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1/21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7.440 / 7.526 / 7.660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LGB+LGB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38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Solubility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MAE ↓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0.739 ± 0.002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1/19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0.741 / 0.761 / 0.775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LGB+LGB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  <a:tr h="205956">
                <a:tc>
                  <a:txBody>
                    <a:bodyPr/>
                    <a:lstStyle/>
                    <a:p>
                      <a:pPr algn="l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VDss_Lombardo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Spearman ↑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1A2537"/>
                          </a:solidFill>
                          <a:latin typeface="Microsoft YaHei"/>
                        </a:rPr>
                        <a:t>0.673 ± 0.001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1">
                          <a:solidFill>
                            <a:srgbClr val="24975F"/>
                          </a:solidFill>
                          <a:latin typeface="Microsoft YaHei"/>
                        </a:rPr>
                        <a:t>3/20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15" b="0">
                          <a:solidFill>
                            <a:srgbClr val="1A2537"/>
                          </a:solidFill>
                          <a:latin typeface="Microsoft YaHei"/>
                        </a:rPr>
                        <a:t>0.713 / 0.707 / 0.628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90" b="0">
                          <a:solidFill>
                            <a:srgbClr val="1A2537"/>
                          </a:solidFill>
                          <a:latin typeface="Microsoft YaHei"/>
                        </a:rPr>
                        <a:t>多视图2D（Morgan/Avalon/ErG/RDKit2D）→ ET</a:t>
                      </a:r>
                    </a:p>
                  </a:txBody>
                  <a:tcPr marL="36576" marR="36576" marT="10972" marB="10972" anchor="ctr">
                    <a:solidFill>
                      <a:srgbClr val="E7F6E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75488" y="6492240"/>
            <a:ext cx="804672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l"/>
            <a:r>
              <a:rPr sz="720" b="0">
                <a:solidFill>
                  <a:srgbClr val="5E6C81"/>
                </a:solidFill>
                <a:latin typeface="Microsoft YaHei"/>
              </a:rPr>
              <a:t>注：MAE 越低越好，其余指标越高越好；并列时显示 rank range。公开榜单分数按三位小数展示。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6492240"/>
            <a:ext cx="3566160" cy="18288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r"/>
            <a:r>
              <a:rPr sz="720" b="1">
                <a:solidFill>
                  <a:srgbClr val="CF4848"/>
                </a:solidFill>
                <a:latin typeface="Microsoft YaHei"/>
              </a:rPr>
              <a:t>尚未正式提交；新 Uni-Mol2/Router 结果未计入本页 rank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ADMET Agent V2.1 and Uni-Mol2</dc:title>
  <dc:subject>Two-slide architecture and TDC leaderboard briefing</dc:subject>
  <dc:creator>ADMET Agent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